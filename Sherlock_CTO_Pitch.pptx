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 line: 'Over the last year we have lost engineering time and incurred customer-visible incidents every time a change in one application silently broke another. Sherlock closes that gap — at commit time, not in production.' This is a 3-month pilot ask and a platform-embed request; I'll get to both on slide 14.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the CTO needs to leave after one slide, this is the one they'd take with them. Lead with the ask in plain language; the rest of the deck defends it. Scale anchor: '10,000 engineers, 17 domains, thousands of repos — nobody sees the whole picture.'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'Every one of these patterns is already happening somewhere in our estate every week.' Do NOT attach to a specific incident unless you've cleared one — the composite framing is more defensible. Invite them to recall one from their own domain if they'd like to share.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Expect the CTO to ask how Sherlock relates to each of these. Bridge answer: 'Sherlock sits on top of the code — it complements CMDB (which it pulls ownership from), complements APM (which it will later cross-validate against), and feeds Backstage (it can expose its graph as a plugin).'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Three-word pitch: SEE, PREDICT, NOTIFY. Stress the zero-intrusion point — teams don't have to instrument anything; Sherlock works from the code that's already in GitLab.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diagram left-to-right first (how we build the graph), then the feedback loop (how impact gets surfaced). Emphasize: CMDB is read-only input — we don't try to replace it. APM integration is roadmap (H4).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three things: (1) COBOL line — few tools in this space speak COBOL. (2) tree-sitter — Java/Python/JS now extracted at AST level, catching URI-builder lambdas + variable-resolved URLs the regex extractor misses. (3) precision — required-vs-optional decomposition means adding a new optional response field doesn't fire a breaking-change alert.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'aha' slide. If possible, open http://localhost:8001 in a browser and show the live canvas during this moment. If not, the mock here is accurate to what a real MR comment looks like — cross-platform callout banner included.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Screenshot replacement: take a PNG of the canvas in App view, selected on transaction-service with Downstream overlay enabled. Crop to 16:9.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slide that sells 'inform, don't block'. The system gives teams the data; responsibility stays with the team. SLA dashboard comes in H3.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answers the obvious follow-up to slide 8: 'How does this work in our hybrid estate?' Anchor: 'Sherlock doesn't care where you deploy. CMDB tells us the platform, the graph tracks the edges, and any time a break crosses the Azure ↔ on-prem boundary we surface it explicitly — at MR time and on the downstream issue. Cross-cloud incidents are the costliest to debug; this is the cheap end of catching them.'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Anchor phrasing: 'If legacy-ledger ever wondered what depends on them — the answer is now in their own README, automatically. No hand-maintenance, no stale Confluence pages.' The one-liner Purpose quote is REAL — Gemini 2.5 Flash, grounded on the graph's own evidence (writes ledger.balances, writes LEDGER.RPT, reads POSTINGS.DAT). Key contrast: this MR is in legacy-ledger's own repo, for core-banking to review — NOT a PR to the 2 affected downstream apps (that's slide 10's sticky-tag flow).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reframing: 'Most of H1 and a meaningful slice of H2 are already working. Pilot money is NOT to prove the idea — that's done. It's to operationalize: bot account, security review, multi-group rollout, scheduled autodoc loop, rollout to domain #1.'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H2 is the 'code documentation' pillar from the original vision. Note: 'Auto-doc is a natural extension of the same graph — we already understand every repo's structure; generating docs becomes a scheduled job using the LLM provider you already have in Azure.'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framing vs. the previous pilot plan: 'Month 1 isn't about building — that's already done. Month 1 is about security, governance, and embedding with the platform org. Month 3 closes with a go/no-go for H2's scheduled autodoc loop + H3 governance work.'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Stop talking. Let the CTO respond. Have answers ready for: 'Why now?', 'Why your team?', 'Why not Backstage?', 'What's the total 12-month cost?', 'What's the kill-switch if the bot produces noise?'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the numbers we'll report at month 3. If they don't move, the pilot has failed and we say so. Transparency builds trust for H2.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 over. Keep the appendix in your back pocket for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Only surface appendix slides if the CTO asks a question that one covers.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Used when asked 'how does it scale?' or 'what's the stack?'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to show we know what we don't know. Every gap has an obvious next analyzer; none require rebuilding the foundation.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schema is deliberately narrow — every edge type corresponds to a real-world break kind we can detect.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 for any CISO/risk review: 'Code, not data.'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LLM talking point: 'The expensive part is understanding the code. Sherlock already has that model — doc generation is a scheduled job on top.'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Used when asked 'How does this fit with our existing tooling?' — answer: it plugs in, doesn't replace.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Expected question: 'Don't we already have X for this?' Walk through the row for the tool they name; the honest answer is usually 'X does Y, Sherlock does cross-app-impact — they complement, not compete.'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Surface this when asked 'what does the platform team operate?' or 'what happens when our 1,000 repos become 10,000?' — answer: the reconciler does the onboarding; there's no manual list to maintain.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 appendix slide — use when asked 'why is this the right moment?' or 'why your team?'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C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502920"/>
            <a:ext cx="237744" cy="45720"/>
          </a:xfrm>
          <a:prstGeom prst="rect">
            <a:avLst/>
          </a:prstGeom>
          <a:solidFill>
            <a:srgbClr val="EC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621792"/>
            <a:ext cx="237744" cy="45720"/>
          </a:xfrm>
          <a:prstGeom prst="rect">
            <a:avLst/>
          </a:prstGeom>
          <a:solidFill>
            <a:srgbClr val="EC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740664"/>
            <a:ext cx="237744" cy="45720"/>
          </a:xfrm>
          <a:prstGeom prst="rect">
            <a:avLst/>
          </a:prstGeom>
          <a:solidFill>
            <a:srgbClr val="EC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45720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"/>
              </a:rPr>
              <a:t>UBS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7744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C0016"/>
                </a:solidFill>
                <a:latin typeface="Arial"/>
              </a:rPr>
              <a:t>CTO OFFICE BRIEFING · PROPOSAL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10972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400" b="1" i="0">
                <a:solidFill>
                  <a:srgbClr val="FFFFFF"/>
                </a:solidFill>
                <a:latin typeface="Arial"/>
              </a:rPr>
              <a:t>Sherlock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84048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Arial"/>
              </a:rPr>
              <a:t>Dependency Intelligence Platform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663440"/>
            <a:ext cx="1463040" cy="54864"/>
          </a:xfrm>
          <a:prstGeom prst="rect">
            <a:avLst/>
          </a:prstGeom>
          <a:solidFill>
            <a:srgbClr val="EC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48463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1">
                <a:solidFill>
                  <a:srgbClr val="FFFFFF"/>
                </a:solidFill>
                <a:latin typeface="Arial"/>
              </a:rPr>
              <a:t>Cross-application change impact — surfaced at commit time.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85216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D0D0D0"/>
                </a:solidFill>
                <a:latin typeface="Arial"/>
              </a:rPr>
              <a:t>Presented to the CTO Office  ·  Internal briefing  ·  Draft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2608" y="201168"/>
            <a:ext cx="201168" cy="36576"/>
          </a:xfrm>
          <a:prstGeom prst="rect">
            <a:avLst/>
          </a:prstGeom>
          <a:solidFill>
            <a:srgbClr val="EC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2608" y="301752"/>
            <a:ext cx="201168" cy="36576"/>
          </a:xfrm>
          <a:prstGeom prst="rect">
            <a:avLst/>
          </a:prstGeom>
          <a:solidFill>
            <a:srgbClr val="EC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2608" y="402336"/>
            <a:ext cx="201168" cy="36576"/>
          </a:xfrm>
          <a:prstGeom prst="rect">
            <a:avLst/>
          </a:prstGeom>
          <a:solidFill>
            <a:srgbClr val="EC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97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00000"/>
                </a:solidFill>
                <a:latin typeface="Arial"/>
              </a:rPr>
              <a:t>UBS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0" y="22860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Arial"/>
              </a:rPr>
              <a:t>MAIN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18288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629400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Arial"/>
              </a:rPr>
              <a:t>Sherlock · Dependency Intelligence Platform · Internal · Draft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629400"/>
            <a:ext cx="2286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Arial"/>
              </a:rPr>
              <a:t>MAIN · 2 / 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86868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EC0016"/>
                </a:solidFill>
                <a:latin typeface="Arial"/>
              </a:rPr>
              <a:t>EXECUTIVE SUMMARY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09728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71717"/>
                </a:solidFill>
                <a:latin typeface="Arial"/>
              </a:rPr>
              <a:t>What we need in 60 seconds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874519"/>
            <a:ext cx="822960" cy="54864"/>
          </a:xfrm>
          <a:prstGeom prst="rect">
            <a:avLst/>
          </a:prstGeom>
          <a:solidFill>
            <a:srgbClr val="EC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560320"/>
            <a:ext cx="3657600" cy="3291840"/>
          </a:xfrm>
          <a:prstGeom prst="rect">
            <a:avLst/>
          </a:prstGeom>
          <a:solidFill>
            <a:srgbClr val="FAFAFA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560320"/>
            <a:ext cx="3657600" cy="73152"/>
          </a:xfrm>
          <a:prstGeom prst="rect">
            <a:avLst/>
          </a:prstGeom>
          <a:solidFill>
            <a:srgbClr val="EC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78892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EC0016"/>
                </a:solidFill>
                <a:latin typeface="Arial"/>
              </a:rPr>
              <a:t>PROBLEM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200400"/>
            <a:ext cx="31089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71717"/>
                </a:solidFill>
                <a:latin typeface="Arial"/>
              </a:rPr>
              <a:t>Code changes in one app silently break others.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160520"/>
            <a:ext cx="31089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Dependencies are invisible until something fails in production. We detect the break hours-to-days after merge, not at merge time. Every domain has recurring examples; nobody has end-to-end visibility.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43400" y="2560320"/>
            <a:ext cx="3657600" cy="3291840"/>
          </a:xfrm>
          <a:prstGeom prst="rect">
            <a:avLst/>
          </a:prstGeom>
          <a:solidFill>
            <a:srgbClr val="FAFAFA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43400" y="2560320"/>
            <a:ext cx="3657600" cy="73152"/>
          </a:xfrm>
          <a:prstGeom prst="rect">
            <a:avLst/>
          </a:prstGeom>
          <a:solidFill>
            <a:srgbClr val="EC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17720" y="278892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EC0016"/>
                </a:solidFill>
                <a:latin typeface="Arial"/>
              </a:rPr>
              <a:t>SOLUTION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3200400"/>
            <a:ext cx="31089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71717"/>
                </a:solidFill>
                <a:latin typeface="Arial"/>
              </a:rPr>
              <a:t>Sherlock — the live dependency graph of UBS.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20" y="4160520"/>
            <a:ext cx="31089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Auto-maps every application's upstream/downstream surface from source code: REST, events, DB, shared files, libraries. Flags potential breakage on every MR, with the right team tagged and on-call channel named.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38160" y="2560320"/>
            <a:ext cx="3657600" cy="3291840"/>
          </a:xfrm>
          <a:prstGeom prst="rect">
            <a:avLst/>
          </a:prstGeom>
          <a:solidFill>
            <a:srgbClr val="FAFAFA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38160" y="2560320"/>
            <a:ext cx="3657600" cy="73152"/>
          </a:xfrm>
          <a:prstGeom prst="rect">
            <a:avLst/>
          </a:prstGeom>
          <a:solidFill>
            <a:srgbClr val="EC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0" y="278892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EC0016"/>
                </a:solidFill>
                <a:latin typeface="Arial"/>
              </a:rPr>
              <a:t>ASK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3200400"/>
            <a:ext cx="31089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71717"/>
                </a:solidFill>
                <a:latin typeface="Arial"/>
              </a:rPr>
              <a:t>3-month funded pilot · 2–3 FTEs · platform embed.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4160520"/>
            <a:ext cx="31089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One pilot domain, measurable MTTD reduction, ready-to-scale platform. Approval to embed in the existing GitLab CI stack and executive sponsor to unblock cross-BU alignment.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2608" y="201168"/>
            <a:ext cx="201168" cy="36576"/>
          </a:xfrm>
          <a:prstGeom prst="rect">
            <a:avLst/>
          </a:prstGeom>
          <a:solidFill>
            <a:srgbClr val="EC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2608" y="301752"/>
            <a:ext cx="201168" cy="36576"/>
          </a:xfrm>
          <a:prstGeom prst="rect">
            <a:avLst/>
          </a:prstGeom>
          <a:solidFill>
            <a:srgbClr val="EC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2608" y="402336"/>
            <a:ext cx="201168" cy="36576"/>
          </a:xfrm>
          <a:prstGeom prst="rect">
            <a:avLst/>
          </a:prstGeom>
          <a:solidFill>
            <a:srgbClr val="EC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97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00000"/>
                </a:solidFill>
                <a:latin typeface="Arial"/>
              </a:rPr>
              <a:t>UBS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0" y="22860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Arial"/>
              </a:rPr>
              <a:t>MAIN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18288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629400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Arial"/>
              </a:rPr>
              <a:t>Sherlock · Dependency Intelligence Platform · Internal · Draft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629400"/>
            <a:ext cx="2286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Arial"/>
              </a:rPr>
              <a:t>MAIN · 3 / 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86868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EC0016"/>
                </a:solidFill>
                <a:latin typeface="Arial"/>
              </a:rPr>
              <a:t>THE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09728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71717"/>
                </a:solidFill>
                <a:latin typeface="Arial"/>
              </a:rPr>
              <a:t>How cross-application breakage happens — today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874519"/>
            <a:ext cx="822960" cy="54864"/>
          </a:xfrm>
          <a:prstGeom prst="rect">
            <a:avLst/>
          </a:prstGeom>
          <a:solidFill>
            <a:srgbClr val="EC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0116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Arial"/>
              </a:rPr>
              <a:t>Recurring patterns across 17 domains, 10,000+ engineers, 1000s of repos. Composite illustrative examples; every domain has their own version.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834640"/>
            <a:ext cx="91440" cy="1005840"/>
          </a:xfrm>
          <a:prstGeom prst="rect">
            <a:avLst/>
          </a:prstGeom>
          <a:solidFill>
            <a:srgbClr val="EC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83464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71717"/>
                </a:solidFill>
                <a:latin typeface="Arial"/>
              </a:rPr>
              <a:t>1. Contract drift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154680"/>
            <a:ext cx="795527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Arial"/>
              </a:rPr>
              <a:t>Team A renames a response field in its OpenAPI. Teams B &amp; C find out the next morning when their nightly integration tests fail, or — worse — when prod errors spike.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3154680"/>
            <a:ext cx="30175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1">
                <a:solidFill>
                  <a:srgbClr val="EC0016"/>
                </a:solidFill>
                <a:latin typeface="Arial"/>
              </a:rPr>
              <a:t>Typical MTTD: 1–3 days · MTTR: 8–24 hours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023360"/>
            <a:ext cx="91440" cy="1005840"/>
          </a:xfrm>
          <a:prstGeom prst="rect">
            <a:avLst/>
          </a:prstGeom>
          <a:solidFill>
            <a:srgbClr val="EC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02336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71717"/>
                </a:solidFill>
                <a:latin typeface="Arial"/>
              </a:rPr>
              <a:t>2. Silent DB coupling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343400"/>
            <a:ext cx="795527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Arial"/>
              </a:rPr>
              <a:t>Team A owns a Postgres table. Team B's analytics app reads it directly for a regulatory report. An 'internal' column rename lands on main — the report breaks two days later. Neither team knew the other was there.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4343400"/>
            <a:ext cx="30175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1">
                <a:solidFill>
                  <a:srgbClr val="EC0016"/>
                </a:solidFill>
                <a:latin typeface="Arial"/>
              </a:rPr>
              <a:t>Typical MTTD: 2–5 days · MTTR: 12–48 hours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212080"/>
            <a:ext cx="91440" cy="1005840"/>
          </a:xfrm>
          <a:prstGeom prst="rect">
            <a:avLst/>
          </a:prstGeom>
          <a:solidFill>
            <a:srgbClr val="EC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21208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71717"/>
                </a:solidFill>
                <a:latin typeface="Arial"/>
              </a:rPr>
              <a:t>3. Legacy file feeds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532120"/>
            <a:ext cx="795527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Arial"/>
              </a:rPr>
              <a:t>A modern service stops writing a nightly batch file. A core-banking COBOL job fails overnight. Ops notices the morning after when reports don't land.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0" y="5532120"/>
            <a:ext cx="30175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1">
                <a:solidFill>
                  <a:srgbClr val="EC0016"/>
                </a:solidFill>
                <a:latin typeface="Arial"/>
              </a:rPr>
              <a:t>Typical MTTD: 1 day (overnight batch) · MTTR: 12–36 hours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2608" y="201168"/>
            <a:ext cx="201168" cy="36576"/>
          </a:xfrm>
          <a:prstGeom prst="rect">
            <a:avLst/>
          </a:prstGeom>
          <a:solidFill>
            <a:srgbClr val="EC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2608" y="301752"/>
            <a:ext cx="201168" cy="36576"/>
          </a:xfrm>
          <a:prstGeom prst="rect">
            <a:avLst/>
          </a:prstGeom>
          <a:solidFill>
            <a:srgbClr val="EC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2608" y="402336"/>
            <a:ext cx="201168" cy="36576"/>
          </a:xfrm>
          <a:prstGeom prst="rect">
            <a:avLst/>
          </a:prstGeom>
          <a:solidFill>
            <a:srgbClr val="EC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97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00000"/>
                </a:solidFill>
                <a:latin typeface="Arial"/>
              </a:rPr>
              <a:t>UBS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0" y="22860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Arial"/>
              </a:rPr>
              <a:t>MAIN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18288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629400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Arial"/>
              </a:rPr>
              <a:t>Sherlock · Dependency Intelligence Platform · Internal · Draft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629400"/>
            <a:ext cx="2286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Arial"/>
              </a:rPr>
              <a:t>MAIN · 4 / 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86868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EC0016"/>
                </a:solidFill>
                <a:latin typeface="Arial"/>
              </a:rPr>
              <a:t>WHY EXISTING TOOLS DON'T CLOSE THIS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09728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71717"/>
                </a:solidFill>
                <a:latin typeface="Arial"/>
              </a:rPr>
              <a:t>The visibility gap nobody owns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874519"/>
            <a:ext cx="822960" cy="54864"/>
          </a:xfrm>
          <a:prstGeom prst="rect">
            <a:avLst/>
          </a:prstGeom>
          <a:solidFill>
            <a:srgbClr val="EC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0116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Arial"/>
              </a:rPr>
              <a:t>Existing tools each solve part of the picture. None closes the loop between code-change and cross-app impact, at MR time.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743200"/>
            <a:ext cx="11064240" cy="41148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8163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TOOL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8163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GAP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200400"/>
            <a:ext cx="11064240" cy="457200"/>
          </a:xfrm>
          <a:prstGeom prst="rect">
            <a:avLst/>
          </a:prstGeom>
          <a:solidFill>
            <a:srgbClr val="F5F5F5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29184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71717"/>
                </a:solidFill>
                <a:latin typeface="Arial"/>
              </a:rPr>
              <a:t>CMDB / service catalog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291840"/>
            <a:ext cx="7223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Arial"/>
              </a:rPr>
              <a:t>Good for ownership. Stale topology within weeks — it's manually maintained.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703320"/>
            <a:ext cx="110642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79476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71717"/>
                </a:solidFill>
                <a:latin typeface="Arial"/>
              </a:rPr>
              <a:t>APM (Dynatrace)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3794760"/>
            <a:ext cx="7223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Arial"/>
              </a:rPr>
              <a:t>Shows runtime calls that actually executed. Silent on files, batch, dormant paths, legacy feeds.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206240"/>
            <a:ext cx="11064240" cy="457200"/>
          </a:xfrm>
          <a:prstGeom prst="rect">
            <a:avLst/>
          </a:prstGeom>
          <a:solidFill>
            <a:srgbClr val="F5F5F5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29768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71717"/>
                </a:solidFill>
                <a:latin typeface="Arial"/>
              </a:rPr>
              <a:t>Code search / Sourcegraph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4297680"/>
            <a:ext cx="7223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Arial"/>
              </a:rPr>
              <a:t>Finds references. Doesn't understand contracts, directionality, or cross-app impact.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709160"/>
            <a:ext cx="110642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80060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71717"/>
                </a:solidFill>
                <a:latin typeface="Arial"/>
              </a:rPr>
              <a:t>Architecture diagrams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4800600"/>
            <a:ext cx="7223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Arial"/>
              </a:rPr>
              <a:t>Drawn once. Never updated. Confidence decays to zero.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5212080"/>
            <a:ext cx="11064240" cy="457200"/>
          </a:xfrm>
          <a:prstGeom prst="rect">
            <a:avLst/>
          </a:prstGeom>
          <a:solidFill>
            <a:srgbClr val="F5F5F5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30352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71717"/>
                </a:solidFill>
                <a:latin typeface="Arial"/>
              </a:rPr>
              <a:t>Backstage / dev portals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5303520"/>
            <a:ext cx="7223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Arial"/>
              </a:rPr>
              <a:t>Great for ownership + docs. Doesn't parse contracts or diff them across MRs.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760720"/>
            <a:ext cx="11064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1">
                <a:solidFill>
                  <a:srgbClr val="EC0016"/>
                </a:solidFill>
                <a:latin typeface="Arial"/>
              </a:rPr>
              <a:t>No single tool connects CODE  →  CROSS-APP IMPACT  →  MR-TIME FEEDBACK. That's the gap Sherlock closes.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2608" y="201168"/>
            <a:ext cx="201168" cy="36576"/>
          </a:xfrm>
          <a:prstGeom prst="rect">
            <a:avLst/>
          </a:prstGeom>
          <a:solidFill>
            <a:srgbClr val="EC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2608" y="301752"/>
            <a:ext cx="201168" cy="36576"/>
          </a:xfrm>
          <a:prstGeom prst="rect">
            <a:avLst/>
          </a:prstGeom>
          <a:solidFill>
            <a:srgbClr val="EC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2608" y="402336"/>
            <a:ext cx="201168" cy="36576"/>
          </a:xfrm>
          <a:prstGeom prst="rect">
            <a:avLst/>
          </a:prstGeom>
          <a:solidFill>
            <a:srgbClr val="EC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97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00000"/>
                </a:solidFill>
                <a:latin typeface="Arial"/>
              </a:rPr>
              <a:t>UBS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0" y="22860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Arial"/>
              </a:rPr>
              <a:t>MAIN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18288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629400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Arial"/>
              </a:rPr>
              <a:t>Sherlock · Dependency Intelligence Platform · Internal · Draft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629400"/>
            <a:ext cx="2286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Arial"/>
              </a:rPr>
              <a:t>MAIN · 5 / 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86868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EC0016"/>
                </a:solidFill>
                <a:latin typeface="Arial"/>
              </a:rPr>
              <a:t>THE IDEA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09728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71717"/>
                </a:solidFill>
                <a:latin typeface="Arial"/>
              </a:rPr>
              <a:t>Introducing Sherlock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874519"/>
            <a:ext cx="822960" cy="54864"/>
          </a:xfrm>
          <a:prstGeom prst="rect">
            <a:avLst/>
          </a:prstGeom>
          <a:solidFill>
            <a:srgbClr val="EC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28600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171717"/>
                </a:solidFill>
                <a:latin typeface="Arial"/>
              </a:rPr>
              <a:t>The enterprise's live dependency graph — continuously derived from source code.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200400"/>
            <a:ext cx="3657600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200400"/>
            <a:ext cx="73152" cy="2560320"/>
          </a:xfrm>
          <a:prstGeom prst="rect">
            <a:avLst/>
          </a:prstGeom>
          <a:solidFill>
            <a:srgbClr val="EC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383280"/>
            <a:ext cx="3108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C0016"/>
                </a:solidFill>
                <a:latin typeface="Arial"/>
              </a:rPr>
              <a:t>SEE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840480"/>
            <a:ext cx="3108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71717"/>
                </a:solidFill>
                <a:latin typeface="Arial"/>
              </a:rPr>
              <a:t>The real topology across all 17 domains.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572000"/>
            <a:ext cx="3108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Arial"/>
              </a:rPr>
              <a:t>REST, events, DB, shared files, libraries — one graph.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43400" y="3200400"/>
            <a:ext cx="3657600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43400" y="3200400"/>
            <a:ext cx="73152" cy="2560320"/>
          </a:xfrm>
          <a:prstGeom prst="rect">
            <a:avLst/>
          </a:prstGeom>
          <a:solidFill>
            <a:srgbClr val="EC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17720" y="3383280"/>
            <a:ext cx="3108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C0016"/>
                </a:solidFill>
                <a:latin typeface="Arial"/>
              </a:rPr>
              <a:t>PREDICT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20" y="3840480"/>
            <a:ext cx="3108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71717"/>
                </a:solidFill>
                <a:latin typeface="Arial"/>
              </a:rPr>
              <a:t>The blast radius of every MR, before it merges.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4572000"/>
            <a:ext cx="3108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Arial"/>
              </a:rPr>
              <a:t>Automatic breaking-change detection. Source app &amp; affected apps named with on-call channels.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38160" y="3200400"/>
            <a:ext cx="3657600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38160" y="3200400"/>
            <a:ext cx="73152" cy="2560320"/>
          </a:xfrm>
          <a:prstGeom prst="rect">
            <a:avLst/>
          </a:prstGeom>
          <a:solidFill>
            <a:srgbClr val="EC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0" y="3383280"/>
            <a:ext cx="3108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C0016"/>
                </a:solidFill>
                <a:latin typeface="Arial"/>
              </a:rPr>
              <a:t>NOTIFY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3840480"/>
            <a:ext cx="3108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71717"/>
                </a:solidFill>
                <a:latin typeface="Arial"/>
              </a:rPr>
              <a:t>The right teams — automatically.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4572000"/>
            <a:ext cx="3108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Arial"/>
              </a:rPr>
              <a:t>MR comment for the author. Sticky impact issue in every affected repo. Auto-closes when the fix lands.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666666"/>
                </a:solidFill>
                <a:latin typeface="Arial"/>
              </a:rPr>
              <a:t>No agents, no code changes in consuming apps. Reads code. Writes to GitLab.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2608" y="201168"/>
            <a:ext cx="201168" cy="36576"/>
          </a:xfrm>
          <a:prstGeom prst="rect">
            <a:avLst/>
          </a:prstGeom>
          <a:solidFill>
            <a:srgbClr val="EC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2608" y="301752"/>
            <a:ext cx="201168" cy="36576"/>
          </a:xfrm>
          <a:prstGeom prst="rect">
            <a:avLst/>
          </a:prstGeom>
          <a:solidFill>
            <a:srgbClr val="EC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2608" y="402336"/>
            <a:ext cx="201168" cy="36576"/>
          </a:xfrm>
          <a:prstGeom prst="rect">
            <a:avLst/>
          </a:prstGeom>
          <a:solidFill>
            <a:srgbClr val="EC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97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00000"/>
                </a:solidFill>
                <a:latin typeface="Arial"/>
              </a:rPr>
              <a:t>UBS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0" y="22860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Arial"/>
              </a:rPr>
              <a:t>MAIN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18288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629400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Arial"/>
              </a:rPr>
              <a:t>Sherlock · Dependency Intelligence Platform · Internal · Draft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629400"/>
            <a:ext cx="2286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Arial"/>
              </a:rPr>
              <a:t>MAIN · 6 / 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86868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EC0016"/>
                </a:solidFill>
                <a:latin typeface="Arial"/>
              </a:rPr>
              <a:t>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09728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71717"/>
                </a:solidFill>
                <a:latin typeface="Arial"/>
              </a:rPr>
              <a:t>How Sherlock works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874519"/>
            <a:ext cx="822960" cy="54864"/>
          </a:xfrm>
          <a:prstGeom prst="rect">
            <a:avLst/>
          </a:prstGeom>
          <a:solidFill>
            <a:srgbClr val="EC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0116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Arial"/>
              </a:rPr>
              <a:t>Webhook-driven. Internal only. Read-only from applications' perspective.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834640"/>
            <a:ext cx="2011680" cy="1005840"/>
          </a:xfrm>
          <a:prstGeom prst="rect">
            <a:avLst/>
          </a:prstGeom>
          <a:solidFill>
            <a:srgbClr val="F5F5F5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834640"/>
            <a:ext cx="2011680" cy="7315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999232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71717"/>
                </a:solidFill>
                <a:latin typeface="Arial"/>
              </a:rPr>
              <a:t>GitLab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310128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Arial"/>
              </a:rPr>
              <a:t>Webhooks: push, MR
Source of truth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17520" y="2834640"/>
            <a:ext cx="201168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017520" y="2834640"/>
            <a:ext cx="2011680" cy="73152"/>
          </a:xfrm>
          <a:prstGeom prst="rect">
            <a:avLst/>
          </a:prstGeom>
          <a:solidFill>
            <a:srgbClr val="EC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54679" y="2999232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71717"/>
                </a:solidFill>
                <a:latin typeface="Arial"/>
              </a:rPr>
              <a:t>Ingest (FastAPI)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54679" y="3310128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Arial"/>
              </a:rPr>
              <a:t>Webhook receiver
Manual /scan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0" y="2834640"/>
            <a:ext cx="201168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0" y="2834640"/>
            <a:ext cx="2011680" cy="73152"/>
          </a:xfrm>
          <a:prstGeom prst="rect">
            <a:avLst/>
          </a:prstGeom>
          <a:solidFill>
            <a:srgbClr val="EC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23560" y="2999232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71717"/>
                </a:solidFill>
                <a:latin typeface="Arial"/>
              </a:rPr>
              <a:t>Analyzers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23560" y="3310128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Arial"/>
              </a:rPr>
              <a:t>Java · Python
JS/TS · COBOL · YAML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55279" y="2834640"/>
            <a:ext cx="201168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955279" y="2834640"/>
            <a:ext cx="2011680" cy="73152"/>
          </a:xfrm>
          <a:prstGeom prst="rect">
            <a:avLst/>
          </a:prstGeom>
          <a:solidFill>
            <a:srgbClr val="EC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92440" y="2999232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71717"/>
                </a:solidFill>
                <a:latin typeface="Arial"/>
              </a:rPr>
              <a:t>Graph DB (Neo4j)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2440" y="3310128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Arial"/>
              </a:rPr>
              <a:t>Versioned by commit
App / Endpoint / Topic
Table / File / Library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149840" y="2834640"/>
            <a:ext cx="146304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149840" y="2834640"/>
            <a:ext cx="1463040" cy="73152"/>
          </a:xfrm>
          <a:prstGeom prst="rect">
            <a:avLst/>
          </a:prstGeom>
          <a:solidFill>
            <a:srgbClr val="EC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87000" y="2999232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71717"/>
                </a:solidFill>
                <a:latin typeface="Arial"/>
              </a:rPr>
              <a:t>Canvas UI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87000" y="3310128"/>
            <a:ext cx="1188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Arial"/>
              </a:rPr>
              <a:t>Cytoscape.js
App + Contract views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560320" y="3337560"/>
            <a:ext cx="457200" cy="0"/>
          </a:xfrm>
          <a:prstGeom prst="line">
            <a:avLst/>
          </a:prstGeom>
          <a:ln w="19050">
            <a:solidFill>
              <a:srgbClr val="666666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029200" y="3337560"/>
            <a:ext cx="457200" cy="0"/>
          </a:xfrm>
          <a:prstGeom prst="line">
            <a:avLst/>
          </a:prstGeom>
          <a:ln w="19050">
            <a:solidFill>
              <a:srgbClr val="666666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498079" y="3337560"/>
            <a:ext cx="457200" cy="0"/>
          </a:xfrm>
          <a:prstGeom prst="line">
            <a:avLst/>
          </a:prstGeom>
          <a:ln w="19050">
            <a:solidFill>
              <a:srgbClr val="666666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9966960" y="3337560"/>
            <a:ext cx="182880" cy="0"/>
          </a:xfrm>
          <a:prstGeom prst="line">
            <a:avLst/>
          </a:prstGeom>
          <a:ln w="19050">
            <a:solidFill>
              <a:srgbClr val="666666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3017520" y="4754880"/>
            <a:ext cx="256032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017520" y="4754880"/>
            <a:ext cx="2560320" cy="73152"/>
          </a:xfrm>
          <a:prstGeom prst="rect">
            <a:avLst/>
          </a:prstGeom>
          <a:solidFill>
            <a:srgbClr val="EC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154679" y="4919472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71717"/>
                </a:solidFill>
                <a:latin typeface="Arial"/>
              </a:rPr>
              <a:t>Impact Engine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154679" y="5230368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Arial"/>
              </a:rPr>
              <a:t>Diff AnalysisResult
Resolve affected apps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852160" y="4754880"/>
            <a:ext cx="256032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852160" y="4754880"/>
            <a:ext cx="2560320" cy="73152"/>
          </a:xfrm>
          <a:prstGeom prst="rect">
            <a:avLst/>
          </a:prstGeom>
          <a:solidFill>
            <a:srgbClr val="EC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989320" y="4919472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71717"/>
                </a:solidFill>
                <a:latin typeface="Arial"/>
              </a:rPr>
              <a:t>Notifier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89320" y="5230368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Arial"/>
              </a:rPr>
              <a:t>MR comments
Sticky impact issues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686800" y="4754880"/>
            <a:ext cx="2011680" cy="1005840"/>
          </a:xfrm>
          <a:prstGeom prst="rect">
            <a:avLst/>
          </a:prstGeom>
          <a:solidFill>
            <a:srgbClr val="F5F5F5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686800" y="4754880"/>
            <a:ext cx="2011680" cy="7315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823960" y="4919472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71717"/>
                </a:solidFill>
                <a:latin typeface="Arial"/>
              </a:rPr>
              <a:t>CMDB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23960" y="5230368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Arial"/>
              </a:rPr>
              <a:t>Team · tier · on-call
Read-only</a:t>
            </a:r>
          </a:p>
        </p:txBody>
      </p:sp>
      <p:cxnSp>
        <p:nvCxnSpPr>
          <p:cNvPr id="50" name="Connector 49"/>
          <p:cNvCxnSpPr/>
          <p:nvPr/>
        </p:nvCxnSpPr>
        <p:spPr>
          <a:xfrm flipH="1">
            <a:off x="4297680" y="3840480"/>
            <a:ext cx="4572000" cy="914400"/>
          </a:xfrm>
          <a:prstGeom prst="line">
            <a:avLst/>
          </a:prstGeom>
          <a:ln w="19050">
            <a:solidFill>
              <a:srgbClr val="666666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5577840" y="5257800"/>
            <a:ext cx="274320" cy="0"/>
          </a:xfrm>
          <a:prstGeom prst="line">
            <a:avLst/>
          </a:prstGeom>
          <a:ln w="19050">
            <a:solidFill>
              <a:srgbClr val="666666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 flipV="1">
            <a:off x="1463040" y="3840480"/>
            <a:ext cx="5669280" cy="914400"/>
          </a:xfrm>
          <a:prstGeom prst="line">
            <a:avLst/>
          </a:prstGeom>
          <a:ln w="19050">
            <a:solidFill>
              <a:srgbClr val="666666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H="1">
            <a:off x="8595360" y="5257800"/>
            <a:ext cx="91440" cy="0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8686800" y="3840480"/>
            <a:ext cx="0" cy="1097280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66666"/>
                </a:solidFill>
                <a:latin typeface="Arial"/>
              </a:rPr>
              <a:t>All in-tenant. Source code never leaves the UBS perimeter. No PII in the graph — code, not runtime data.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2608" y="201168"/>
            <a:ext cx="201168" cy="36576"/>
          </a:xfrm>
          <a:prstGeom prst="rect">
            <a:avLst/>
          </a:prstGeom>
          <a:solidFill>
            <a:srgbClr val="EC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2608" y="301752"/>
            <a:ext cx="201168" cy="36576"/>
          </a:xfrm>
          <a:prstGeom prst="rect">
            <a:avLst/>
          </a:prstGeom>
          <a:solidFill>
            <a:srgbClr val="EC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2608" y="402336"/>
            <a:ext cx="201168" cy="36576"/>
          </a:xfrm>
          <a:prstGeom prst="rect">
            <a:avLst/>
          </a:prstGeom>
          <a:solidFill>
            <a:srgbClr val="EC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97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00000"/>
                </a:solidFill>
                <a:latin typeface="Arial"/>
              </a:rPr>
              <a:t>UBS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0" y="22860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Arial"/>
              </a:rPr>
              <a:t>MAIN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18288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629400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Arial"/>
              </a:rPr>
              <a:t>Sherlock · Dependency Intelligence Platform · Internal · Draft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629400"/>
            <a:ext cx="2286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Arial"/>
              </a:rPr>
              <a:t>MAIN · 7 / 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86868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EC0016"/>
                </a:solidFill>
                <a:latin typeface="Arial"/>
              </a:rPr>
              <a:t>COVERAGE MATRIX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09728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71717"/>
                </a:solidFill>
                <a:latin typeface="Arial"/>
              </a:rPr>
              <a:t>What Sherlock detects today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874519"/>
            <a:ext cx="822960" cy="54864"/>
          </a:xfrm>
          <a:prstGeom prst="rect">
            <a:avLst/>
          </a:prstGeom>
          <a:solidFill>
            <a:srgbClr val="EC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0116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Arial"/>
              </a:rPr>
              <a:t>Multi-language, multi-surface detection. COBOL coverage is a key differentiator for our core-banking estate.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743200"/>
            <a:ext cx="11064240" cy="41148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83464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rial"/>
              </a:rPr>
              <a:t>COUPLING TYPE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283464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rial"/>
              </a:rPr>
              <a:t>SIGNAL SOURCE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97880" y="283464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rial"/>
              </a:rPr>
              <a:t>LANGUAGES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60" y="2834640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rial"/>
              </a:rPr>
              <a:t>BREAK KINDS DETECTED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200400"/>
            <a:ext cx="11064240" cy="548640"/>
          </a:xfrm>
          <a:prstGeom prst="rect">
            <a:avLst/>
          </a:prstGeom>
          <a:solidFill>
            <a:srgbClr val="F5F5F5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33756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71717"/>
                </a:solidFill>
                <a:latin typeface="Arial"/>
              </a:rPr>
              <a:t>REST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71800" y="333756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Arial"/>
              </a:rPr>
              <a:t>OpenAPI + HTTP client code (regex + tree-sitter AST)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97880" y="3337560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Arial"/>
              </a:rPr>
              <a:t>Java · Python · JS/TS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09560" y="333756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Arial"/>
              </a:rPr>
              <a:t>Endpoint removed · Required-field shape changed · Optional-field added (info) · Deprecated removal (info)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794760"/>
            <a:ext cx="110642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393192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71717"/>
                </a:solidFill>
                <a:latin typeface="Arial"/>
              </a:rPr>
              <a:t>Events (Kafka)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71800" y="393192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Arial"/>
              </a:rPr>
              <a:t>AsyncAPI + publish/subscribe code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97880" y="3931920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Arial"/>
              </a:rPr>
              <a:t>Java · Python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09560" y="393192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Arial"/>
              </a:rPr>
              <a:t>Topic publish removed · Required-field payload changed · Optional-field added (info)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389120"/>
            <a:ext cx="11064240" cy="548640"/>
          </a:xfrm>
          <a:prstGeom prst="rect">
            <a:avLst/>
          </a:prstGeom>
          <a:solidFill>
            <a:srgbClr val="F5F5F5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452628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71717"/>
                </a:solidFill>
                <a:latin typeface="Arial"/>
              </a:rPr>
              <a:t>Database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71800" y="452628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Arial"/>
              </a:rPr>
              <a:t>Flyway migrations + SQL in code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97880" y="4526280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EC0016"/>
                </a:solidFill>
                <a:latin typeface="Arial"/>
              </a:rPr>
              <a:t>Java · Python · COBOL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09560" y="452628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Arial"/>
              </a:rPr>
              <a:t>Table write removed · Schema ownership released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4983480"/>
            <a:ext cx="110642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512064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71717"/>
                </a:solidFill>
                <a:latin typeface="Arial"/>
              </a:rPr>
              <a:t>Shared files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71800" y="512064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EC0016"/>
                </a:solidFill>
                <a:latin typeface="Arial"/>
              </a:rPr>
              <a:t>Path literals + COBOL SELECT/ASSIGN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97880" y="5120640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EC0016"/>
                </a:solidFill>
                <a:latin typeface="Arial"/>
              </a:rPr>
              <a:t>Java · Python · JS · COBOL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09560" y="512064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Arial"/>
              </a:rPr>
              <a:t>File feed write removed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5577840"/>
            <a:ext cx="11064240" cy="548640"/>
          </a:xfrm>
          <a:prstGeom prst="rect">
            <a:avLst/>
          </a:prstGeom>
          <a:solidFill>
            <a:srgbClr val="F5F5F5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" y="571500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71717"/>
                </a:solidFill>
                <a:latin typeface="Arial"/>
              </a:rPr>
              <a:t>Shared libraries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71800" y="571500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Arial"/>
              </a:rPr>
              <a:t>pom.xml · requirements.txt · package.json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97880" y="5715000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Arial"/>
              </a:rPr>
              <a:t>Java · Python · Node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09560" y="571500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Arial"/>
              </a:rPr>
              <a:t>Published library retired / renamed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66666"/>
                </a:solidFill>
                <a:latin typeface="Arial"/>
              </a:rPr>
              <a:t>Required-field changes are flagged BREAKING; optional-field additions land as INFO — the diff engine separates contract evolution from contract regression.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2608" y="201168"/>
            <a:ext cx="201168" cy="36576"/>
          </a:xfrm>
          <a:prstGeom prst="rect">
            <a:avLst/>
          </a:prstGeom>
          <a:solidFill>
            <a:srgbClr val="EC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2608" y="301752"/>
            <a:ext cx="201168" cy="36576"/>
          </a:xfrm>
          <a:prstGeom prst="rect">
            <a:avLst/>
          </a:prstGeom>
          <a:solidFill>
            <a:srgbClr val="EC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2608" y="402336"/>
            <a:ext cx="201168" cy="36576"/>
          </a:xfrm>
          <a:prstGeom prst="rect">
            <a:avLst/>
          </a:prstGeom>
          <a:solidFill>
            <a:srgbClr val="EC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97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00000"/>
                </a:solidFill>
                <a:latin typeface="Arial"/>
              </a:rPr>
              <a:t>UBS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0" y="22860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Arial"/>
              </a:rPr>
              <a:t>MAIN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18288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629400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Arial"/>
              </a:rPr>
              <a:t>Sherlock · Dependency Intelligence Platform · Internal · Draft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629400"/>
            <a:ext cx="2286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Arial"/>
              </a:rPr>
              <a:t>MAIN · 8 / 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86868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EC0016"/>
                </a:solidFill>
                <a:latin typeface="Arial"/>
              </a:rPr>
              <a:t>THE FEEDBACK LOOP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09728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71717"/>
                </a:solidFill>
                <a:latin typeface="Arial"/>
              </a:rPr>
              <a:t>Impact surfaced at MR time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874519"/>
            <a:ext cx="822960" cy="54864"/>
          </a:xfrm>
          <a:prstGeom prst="rect">
            <a:avLst/>
          </a:prstGeom>
          <a:solidFill>
            <a:srgbClr val="EC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0116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Arial"/>
              </a:rPr>
              <a:t>When a team opens an MR that would break a downstream app, Sherlock posts a structured comment on the MR — with affected teams and on-call channels named.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606040"/>
            <a:ext cx="5943600" cy="3840480"/>
          </a:xfrm>
          <a:prstGeom prst="rect">
            <a:avLst/>
          </a:prstGeom>
          <a:solidFill>
            <a:srgbClr val="FAFAFA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606040"/>
            <a:ext cx="5943600" cy="73152"/>
          </a:xfrm>
          <a:prstGeom prst="rect">
            <a:avLst/>
          </a:prstGeom>
          <a:solidFill>
            <a:srgbClr val="EC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770632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EC0016"/>
                </a:solidFill>
                <a:latin typeface="Arial"/>
              </a:rPr>
              <a:t>SHERLOCK BOT  ·  banking/account-service !12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063240"/>
            <a:ext cx="5394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71717"/>
                </a:solidFill>
                <a:latin typeface="Arial"/>
              </a:rPr>
              <a:t>🔎 Sherlock Impact Analysis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474720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onsolas"/>
              </a:rPr>
              <a:t>Source: account-service · platform on-prem · target main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794760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C0016"/>
                </a:solidFill>
                <a:latin typeface="Arial"/>
              </a:rPr>
              <a:t>⚠️  1 breaking change detected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114800"/>
            <a:ext cx="5486400" cy="502920"/>
          </a:xfrm>
          <a:prstGeom prst="rect">
            <a:avLst/>
          </a:prstGeom>
          <a:solidFill>
            <a:srgbClr val="FEE2E2"/>
          </a:solidFill>
          <a:ln w="9525">
            <a:solidFill>
              <a:srgbClr val="EC00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169664"/>
            <a:ext cx="5303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EC0016"/>
                </a:solidFill>
                <a:latin typeface="Arial"/>
              </a:rPr>
              <a:t>🚨  Cross-platform impact — originates on  on-prem  and affects 3 app(s) on  azure.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754880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71717"/>
                </a:solidFill>
                <a:latin typeface="Arial"/>
              </a:rPr>
              <a:t>🔌 Removed REST endpoint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029200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onsolas"/>
              </a:rPr>
              <a:t>GET /accounts/{*}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394960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71717"/>
                </a:solidFill>
                <a:latin typeface="Arial"/>
              </a:rPr>
              <a:t>Directly affected (4):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669280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onsolas"/>
              </a:rPr>
              <a:t>• mobile-bff      mobile-experience  T1  azure  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852160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onsolas"/>
              </a:rPr>
              <a:t>• web-portal-bff  web-experience     T1  azure  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6035040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onsolas"/>
              </a:rPr>
              <a:t>• fraud-detection risk-engineering   T1  azure  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6217920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onsolas"/>
              </a:rPr>
              <a:t>• transaction-svc payments-platform  T1  on-prem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260604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C0016"/>
                </a:solidFill>
                <a:latin typeface="Arial"/>
              </a:rPr>
              <a:t>What this replaces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3063240"/>
            <a:ext cx="484632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200" b="1" i="0">
                <a:solidFill>
                  <a:srgbClr val="EC0016"/>
                </a:solidFill>
                <a:latin typeface="Arial"/>
              </a:rPr>
              <a:t>— </a:t>
            </a:r>
            <a:r>
              <a:rPr sz="1200" b="1" i="0">
                <a:solidFill>
                  <a:srgbClr val="171717"/>
                </a:solidFill>
                <a:latin typeface="Arial"/>
              </a:rPr>
              <a:t>Slack triage.</a:t>
            </a:r>
            <a:r>
              <a:rPr sz="1200" b="0" i="0">
                <a:solidFill>
                  <a:srgbClr val="333333"/>
                </a:solidFill>
                <a:latin typeface="Arial"/>
              </a:rPr>
              <a:t>  No more 'who touched X yesterday?' threads across 17 domains.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200" b="1" i="0">
                <a:solidFill>
                  <a:srgbClr val="EC0016"/>
                </a:solidFill>
                <a:latin typeface="Arial"/>
              </a:rPr>
              <a:t>— </a:t>
            </a:r>
            <a:r>
              <a:rPr sz="1200" b="1" i="0">
                <a:solidFill>
                  <a:srgbClr val="171717"/>
                </a:solidFill>
                <a:latin typeface="Arial"/>
              </a:rPr>
              <a:t>Blame-after-the-fact.</a:t>
            </a:r>
            <a:r>
              <a:rPr sz="1200" b="0" i="0">
                <a:solidFill>
                  <a:srgbClr val="333333"/>
                </a:solidFill>
                <a:latin typeface="Arial"/>
              </a:rPr>
              <a:t>  Affected teams see the impact before the author hits Merge.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200" b="1" i="0">
                <a:solidFill>
                  <a:srgbClr val="EC0016"/>
                </a:solidFill>
                <a:latin typeface="Arial"/>
              </a:rPr>
              <a:t>— </a:t>
            </a:r>
            <a:r>
              <a:rPr sz="1200" b="1" i="0">
                <a:solidFill>
                  <a:srgbClr val="171717"/>
                </a:solidFill>
                <a:latin typeface="Arial"/>
              </a:rPr>
              <a:t>Gated releases.</a:t>
            </a:r>
            <a:r>
              <a:rPr sz="1200" b="0" i="0">
                <a:solidFill>
                  <a:srgbClr val="333333"/>
                </a:solidFill>
                <a:latin typeface="Arial"/>
              </a:rPr>
              <a:t>  Soft signal — inform, don't block. Keeps velocity.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200" b="1" i="0">
                <a:solidFill>
                  <a:srgbClr val="EC0016"/>
                </a:solidFill>
                <a:latin typeface="Arial"/>
              </a:rPr>
              <a:t>— </a:t>
            </a:r>
            <a:r>
              <a:rPr sz="1200" b="1" i="0">
                <a:solidFill>
                  <a:srgbClr val="171717"/>
                </a:solidFill>
                <a:latin typeface="Arial"/>
              </a:rPr>
              <a:t>Knowledge silos.</a:t>
            </a:r>
            <a:r>
              <a:rPr sz="1200" b="0" i="0">
                <a:solidFill>
                  <a:srgbClr val="333333"/>
                </a:solidFill>
                <a:latin typeface="Arial"/>
              </a:rPr>
              <a:t>  On-call channel is named in the comment, not discovered.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200" b="1" i="0">
                <a:solidFill>
                  <a:srgbClr val="EC0016"/>
                </a:solidFill>
                <a:latin typeface="Arial"/>
              </a:rPr>
              <a:t>— </a:t>
            </a:r>
            <a:r>
              <a:rPr sz="1200" b="1" i="0">
                <a:solidFill>
                  <a:srgbClr val="171717"/>
                </a:solidFill>
                <a:latin typeface="Arial"/>
              </a:rPr>
              <a:t>Cross-cloud surprise.</a:t>
            </a:r>
            <a:r>
              <a:rPr sz="1200" b="0" i="0">
                <a:solidFill>
                  <a:srgbClr val="333333"/>
                </a:solidFill>
                <a:latin typeface="Arial"/>
              </a:rPr>
              <a:t>  🚨 banner explicitly flags Azure↔on-prem boundary crossings — the costliest type of break to debug.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2608" y="201168"/>
            <a:ext cx="201168" cy="36576"/>
          </a:xfrm>
          <a:prstGeom prst="rect">
            <a:avLst/>
          </a:prstGeom>
          <a:solidFill>
            <a:srgbClr val="EC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2608" y="301752"/>
            <a:ext cx="201168" cy="36576"/>
          </a:xfrm>
          <a:prstGeom prst="rect">
            <a:avLst/>
          </a:prstGeom>
          <a:solidFill>
            <a:srgbClr val="EC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2608" y="402336"/>
            <a:ext cx="201168" cy="36576"/>
          </a:xfrm>
          <a:prstGeom prst="rect">
            <a:avLst/>
          </a:prstGeom>
          <a:solidFill>
            <a:srgbClr val="EC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97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00000"/>
                </a:solidFill>
                <a:latin typeface="Arial"/>
              </a:rPr>
              <a:t>UBS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0" y="22860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Arial"/>
              </a:rPr>
              <a:t>MAIN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18288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629400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Arial"/>
              </a:rPr>
              <a:t>Sherlock · Dependency Intelligence Platform · Internal · Draft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629400"/>
            <a:ext cx="2286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Arial"/>
              </a:rPr>
              <a:t>MAIN · 9 / 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86868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EC0016"/>
                </a:solidFill>
                <a:latin typeface="Arial"/>
              </a:rPr>
              <a:t>THE ENTERPRISE TOPOLOGY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09728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71717"/>
                </a:solidFill>
                <a:latin typeface="Arial"/>
              </a:rPr>
              <a:t>The canvas — dependency visibility for every team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874519"/>
            <a:ext cx="822960" cy="54864"/>
          </a:xfrm>
          <a:prstGeom prst="rect">
            <a:avLst/>
          </a:prstGeom>
          <a:solidFill>
            <a:srgbClr val="EC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0116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Arial"/>
              </a:rPr>
              <a:t>App view · Contract view · Team filter · Downstream/Upstream impact overlay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743200"/>
            <a:ext cx="6858000" cy="3474720"/>
          </a:xfrm>
          <a:prstGeom prst="rect">
            <a:avLst/>
          </a:prstGeom>
          <a:solidFill>
            <a:srgbClr val="F5F5F5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29768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666666"/>
                </a:solidFill>
                <a:latin typeface="Arial"/>
              </a:rPr>
              <a:t>[ insert canvas screenshot — http://localhost:8001/ui 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75488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  <a:latin typeface="Arial"/>
              </a:rPr>
              <a:t>App view · rankDir: BT · upstream on top, downstream on bottom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2743200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C0016"/>
                </a:solidFill>
                <a:latin typeface="Arial"/>
              </a:rPr>
              <a:t>Answered at a glance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3200400"/>
            <a:ext cx="39319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200" b="1" i="0">
                <a:solidFill>
                  <a:srgbClr val="EC0016"/>
                </a:solidFill>
                <a:latin typeface="Arial"/>
              </a:rPr>
              <a:t>— </a:t>
            </a:r>
            <a:r>
              <a:rPr sz="1200" b="0" i="0">
                <a:solidFill>
                  <a:srgbClr val="333333"/>
                </a:solidFill>
                <a:latin typeface="Arial"/>
              </a:rPr>
              <a:t>Who am I coupled to (upstream &amp; downstream)?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200" b="1" i="0">
                <a:solidFill>
                  <a:srgbClr val="EC0016"/>
                </a:solidFill>
                <a:latin typeface="Arial"/>
              </a:rPr>
              <a:t>— </a:t>
            </a:r>
            <a:r>
              <a:rPr sz="1200" b="0" i="0">
                <a:solidFill>
                  <a:srgbClr val="333333"/>
                </a:solidFill>
                <a:latin typeface="Arial"/>
              </a:rPr>
              <a:t>What breaks if my change ships?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200" b="1" i="0">
                <a:solidFill>
                  <a:srgbClr val="EC0016"/>
                </a:solidFill>
                <a:latin typeface="Arial"/>
              </a:rPr>
              <a:t>— </a:t>
            </a:r>
            <a:r>
              <a:rPr sz="1200" b="0" i="0">
                <a:solidFill>
                  <a:srgbClr val="333333"/>
                </a:solidFill>
                <a:latin typeface="Arial"/>
              </a:rPr>
              <a:t>Who owns each endpoint, topic, table, feed?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200" b="1" i="0">
                <a:solidFill>
                  <a:srgbClr val="EC0016"/>
                </a:solidFill>
                <a:latin typeface="Arial"/>
              </a:rPr>
              <a:t>— </a:t>
            </a:r>
            <a:r>
              <a:rPr sz="1200" b="0" i="0">
                <a:solidFill>
                  <a:srgbClr val="333333"/>
                </a:solidFill>
                <a:latin typeface="Arial"/>
              </a:rPr>
              <a:t>Which teams inherit the blast radius?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200" b="1" i="0">
                <a:solidFill>
                  <a:srgbClr val="EC0016"/>
                </a:solidFill>
                <a:latin typeface="Arial"/>
              </a:rPr>
              <a:t>— </a:t>
            </a:r>
            <a:r>
              <a:rPr sz="1200" b="0" i="0">
                <a:solidFill>
                  <a:srgbClr val="333333"/>
                </a:solidFill>
                <a:latin typeface="Arial"/>
              </a:rPr>
              <a:t>Where are the cross-domain edges?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2608" y="201168"/>
            <a:ext cx="201168" cy="36576"/>
          </a:xfrm>
          <a:prstGeom prst="rect">
            <a:avLst/>
          </a:prstGeom>
          <a:solidFill>
            <a:srgbClr val="EC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2608" y="301752"/>
            <a:ext cx="201168" cy="36576"/>
          </a:xfrm>
          <a:prstGeom prst="rect">
            <a:avLst/>
          </a:prstGeom>
          <a:solidFill>
            <a:srgbClr val="EC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2608" y="402336"/>
            <a:ext cx="201168" cy="36576"/>
          </a:xfrm>
          <a:prstGeom prst="rect">
            <a:avLst/>
          </a:prstGeom>
          <a:solidFill>
            <a:srgbClr val="EC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97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00000"/>
                </a:solidFill>
                <a:latin typeface="Arial"/>
              </a:rPr>
              <a:t>UBS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0" y="22860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Arial"/>
              </a:rPr>
              <a:t>MAIN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18288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629400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Arial"/>
              </a:rPr>
              <a:t>Sherlock · Dependency Intelligence Platform · Internal · Draft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629400"/>
            <a:ext cx="2286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Arial"/>
              </a:rPr>
              <a:t>MAIN · 10 / 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86868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EC0016"/>
                </a:solidFill>
                <a:latin typeface="Arial"/>
              </a:rPr>
              <a:t>STICKY IMPACT TAGS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09728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71717"/>
                </a:solidFill>
                <a:latin typeface="Arial"/>
              </a:rPr>
              <a:t>Nothing falls through the cracks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874519"/>
            <a:ext cx="822960" cy="54864"/>
          </a:xfrm>
          <a:prstGeom prst="rect">
            <a:avLst/>
          </a:prstGeom>
          <a:solidFill>
            <a:srgbClr val="EC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0116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Arial"/>
              </a:rPr>
              <a:t>Every affected repo gets an auto-opened issue. It closes itself when the underlying break is resolved.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834640"/>
            <a:ext cx="265176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834640"/>
            <a:ext cx="2651760" cy="73152"/>
          </a:xfrm>
          <a:prstGeom prst="rect">
            <a:avLst/>
          </a:prstGeom>
          <a:solidFill>
            <a:srgbClr val="EC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063240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EC0016"/>
                </a:solidFill>
                <a:latin typeface="Arial"/>
              </a:rPr>
              <a:t>STEP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38328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71717"/>
                </a:solidFill>
                <a:latin typeface="Arial"/>
              </a:rPr>
              <a:t>MR opens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931920"/>
            <a:ext cx="2286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Arial"/>
              </a:rPr>
              <a:t>Break detected in source repo.
MR comment posted.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218688" y="3931920"/>
            <a:ext cx="237744" cy="0"/>
          </a:xfrm>
          <a:prstGeom prst="line">
            <a:avLst/>
          </a:prstGeom>
          <a:ln w="19050">
            <a:solidFill>
              <a:srgbClr val="666666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3474720" y="2834640"/>
            <a:ext cx="265176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474720" y="2834640"/>
            <a:ext cx="2651760" cy="73152"/>
          </a:xfrm>
          <a:prstGeom prst="rect">
            <a:avLst/>
          </a:prstGeom>
          <a:solidFill>
            <a:srgbClr val="EC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0" y="3063240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EC0016"/>
                </a:solidFill>
                <a:latin typeface="Arial"/>
              </a:rPr>
              <a:t>STEP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338328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71717"/>
                </a:solidFill>
                <a:latin typeface="Arial"/>
              </a:rPr>
              <a:t>Issue opens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3931920"/>
            <a:ext cx="2286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Arial"/>
              </a:rPr>
              <a:t>Auto-opened in each affected repo with label impact::pending.
Linked to source MR.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144768" y="3931920"/>
            <a:ext cx="237744" cy="0"/>
          </a:xfrm>
          <a:prstGeom prst="line">
            <a:avLst/>
          </a:prstGeom>
          <a:ln w="19050">
            <a:solidFill>
              <a:srgbClr val="666666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6400800" y="2834640"/>
            <a:ext cx="265176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0" y="2834640"/>
            <a:ext cx="2651760" cy="7315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3063240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00000"/>
                </a:solidFill>
                <a:latin typeface="Arial"/>
              </a:rPr>
              <a:t>STEP 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338328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71717"/>
                </a:solidFill>
                <a:latin typeface="Arial"/>
              </a:rPr>
              <a:t>Team responds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3931920"/>
            <a:ext cx="2286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Arial"/>
              </a:rPr>
              <a:t>Downstream team sees in their queue.
Coordinates fix or accepts impact.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070848" y="3931920"/>
            <a:ext cx="237744" cy="0"/>
          </a:xfrm>
          <a:prstGeom prst="line">
            <a:avLst/>
          </a:prstGeom>
          <a:ln w="19050">
            <a:solidFill>
              <a:srgbClr val="666666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9326880" y="2834640"/>
            <a:ext cx="265176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326880" y="2834640"/>
            <a:ext cx="2651760" cy="731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09760" y="3063240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  <a:latin typeface="Arial"/>
              </a:rPr>
              <a:t>STEP 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09760" y="338328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71717"/>
                </a:solidFill>
                <a:latin typeface="Arial"/>
              </a:rPr>
              <a:t>Fix lands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09760" y="3931920"/>
            <a:ext cx="2286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Arial"/>
              </a:rPr>
              <a:t>Rescan on main. Break no longer reproducible.
Issue auto-closed with label impact::fixed and resolution note.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5577840"/>
            <a:ext cx="11064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1">
                <a:solidFill>
                  <a:srgbClr val="EC0016"/>
                </a:solidFill>
                <a:latin typeface="Arial"/>
              </a:rPr>
              <a:t>SLA becomes measurable:  mean time to clear impact tag, per team.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2608" y="201168"/>
            <a:ext cx="201168" cy="36576"/>
          </a:xfrm>
          <a:prstGeom prst="rect">
            <a:avLst/>
          </a:prstGeom>
          <a:solidFill>
            <a:srgbClr val="EC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2608" y="301752"/>
            <a:ext cx="201168" cy="36576"/>
          </a:xfrm>
          <a:prstGeom prst="rect">
            <a:avLst/>
          </a:prstGeom>
          <a:solidFill>
            <a:srgbClr val="EC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2608" y="402336"/>
            <a:ext cx="201168" cy="36576"/>
          </a:xfrm>
          <a:prstGeom prst="rect">
            <a:avLst/>
          </a:prstGeom>
          <a:solidFill>
            <a:srgbClr val="EC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97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00000"/>
                </a:solidFill>
                <a:latin typeface="Arial"/>
              </a:rPr>
              <a:t>UBS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0" y="22860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Arial"/>
              </a:rPr>
              <a:t>MAIN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18288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629400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Arial"/>
              </a:rPr>
              <a:t>Sherlock · Dependency Intelligence Platform · Internal · Draft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629400"/>
            <a:ext cx="2286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Arial"/>
              </a:rPr>
              <a:t>MAIN · 11 / 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86868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EC0016"/>
                </a:solidFill>
                <a:latin typeface="Arial"/>
              </a:rPr>
              <a:t>CROSS-PLATFORM AWARENESS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09728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71717"/>
                </a:solidFill>
                <a:latin typeface="Arial"/>
              </a:rPr>
              <a:t>Hybrid estate, one graph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874519"/>
            <a:ext cx="822960" cy="54864"/>
          </a:xfrm>
          <a:prstGeom prst="rect">
            <a:avLst/>
          </a:prstGeom>
          <a:solidFill>
            <a:srgbClr val="EC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0116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Arial"/>
              </a:rPr>
              <a:t>Same GitLab. One canvas. Every app tagged with its deployment platform — and every Azure ↔ on-prem boundary crossing called out.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606040"/>
            <a:ext cx="3383280" cy="3657600"/>
          </a:xfrm>
          <a:prstGeom prst="rect">
            <a:avLst/>
          </a:prstGeom>
          <a:solidFill>
            <a:srgbClr val="E6F2FB"/>
          </a:solidFill>
          <a:ln w="952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606040"/>
            <a:ext cx="3383280" cy="36576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660904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AZURE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0" y="2606040"/>
            <a:ext cx="3383280" cy="3657600"/>
          </a:xfrm>
          <a:prstGeom prst="rect">
            <a:avLst/>
          </a:prstGeom>
          <a:solidFill>
            <a:srgbClr val="F1F3F5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0" y="2606040"/>
            <a:ext cx="3383280" cy="36576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97680" y="2660904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ON-PREM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3246120"/>
            <a:ext cx="1463040" cy="502920"/>
          </a:xfrm>
          <a:prstGeom prst="rect">
            <a:avLst/>
          </a:prstGeom>
          <a:solidFill>
            <a:srgbClr val="FFFFFF"/>
          </a:solidFill>
          <a:ln w="3175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36499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171717"/>
                </a:solidFill>
                <a:latin typeface="Arial"/>
              </a:rPr>
              <a:t>mobile-bff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68880" y="3246120"/>
            <a:ext cx="1463040" cy="502920"/>
          </a:xfrm>
          <a:prstGeom prst="rect">
            <a:avLst/>
          </a:prstGeom>
          <a:solidFill>
            <a:srgbClr val="FFFFFF"/>
          </a:solidFill>
          <a:ln w="3175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468880" y="336499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171717"/>
                </a:solidFill>
                <a:latin typeface="Arial"/>
              </a:rPr>
              <a:t>web-portal-bff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4023360"/>
            <a:ext cx="1463040" cy="502920"/>
          </a:xfrm>
          <a:prstGeom prst="rect">
            <a:avLst/>
          </a:prstGeom>
          <a:solidFill>
            <a:srgbClr val="FFFFFF"/>
          </a:solidFill>
          <a:ln w="3175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14223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171717"/>
                </a:solidFill>
                <a:latin typeface="Arial"/>
              </a:rPr>
              <a:t>fraud-detection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68880" y="4023360"/>
            <a:ext cx="1463040" cy="502920"/>
          </a:xfrm>
          <a:prstGeom prst="rect">
            <a:avLst/>
          </a:prstGeom>
          <a:solidFill>
            <a:srgbClr val="FFFFFF"/>
          </a:solidFill>
          <a:ln w="3175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68880" y="414223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171717"/>
                </a:solidFill>
                <a:latin typeface="Arial"/>
              </a:rPr>
              <a:t>analytics-svc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89120" y="3246120"/>
            <a:ext cx="1463040" cy="502920"/>
          </a:xfrm>
          <a:prstGeom prst="rect">
            <a:avLst/>
          </a:prstGeom>
          <a:solidFill>
            <a:srgbClr val="FFFFFF"/>
          </a:solidFill>
          <a:ln w="317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9120" y="336499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171717"/>
                </a:solidFill>
                <a:latin typeface="Arial"/>
              </a:rPr>
              <a:t>account-service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35040" y="3246120"/>
            <a:ext cx="1463040" cy="502920"/>
          </a:xfrm>
          <a:prstGeom prst="rect">
            <a:avLst/>
          </a:prstGeom>
          <a:solidFill>
            <a:srgbClr val="FFFFFF"/>
          </a:solidFill>
          <a:ln w="317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35040" y="336499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171717"/>
                </a:solidFill>
                <a:latin typeface="Arial"/>
              </a:rPr>
              <a:t>transaction-service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0" y="4023360"/>
            <a:ext cx="1463040" cy="502920"/>
          </a:xfrm>
          <a:prstGeom prst="rect">
            <a:avLst/>
          </a:prstGeom>
          <a:solidFill>
            <a:srgbClr val="FFFFFF"/>
          </a:solidFill>
          <a:ln w="317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0" y="414223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171717"/>
                </a:solidFill>
                <a:latin typeface="Arial"/>
              </a:rPr>
              <a:t>customer-service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35040" y="4023360"/>
            <a:ext cx="1463040" cy="502920"/>
          </a:xfrm>
          <a:prstGeom prst="rect">
            <a:avLst/>
          </a:prstGeom>
          <a:solidFill>
            <a:srgbClr val="FFFFFF"/>
          </a:solidFill>
          <a:ln w="317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5040" y="414223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171717"/>
                </a:solidFill>
                <a:latin typeface="Arial"/>
              </a:rPr>
              <a:t>notification-svc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212080" y="4800600"/>
            <a:ext cx="1463040" cy="502920"/>
          </a:xfrm>
          <a:prstGeom prst="rect">
            <a:avLst/>
          </a:prstGeom>
          <a:solidFill>
            <a:srgbClr val="FFFFFF"/>
          </a:solidFill>
          <a:ln w="317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212080" y="491947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171717"/>
                </a:solidFill>
                <a:latin typeface="Arial"/>
              </a:rPr>
              <a:t>legacy-ledger</a:t>
            </a:r>
          </a:p>
        </p:txBody>
      </p:sp>
      <p:cxnSp>
        <p:nvCxnSpPr>
          <p:cNvPr id="38" name="Connector 37"/>
          <p:cNvCxnSpPr/>
          <p:nvPr/>
        </p:nvCxnSpPr>
        <p:spPr>
          <a:xfrm flipH="1">
            <a:off x="1554480" y="3497580"/>
            <a:ext cx="3566160.0" cy="0"/>
          </a:xfrm>
          <a:prstGeom prst="line">
            <a:avLst/>
          </a:prstGeom>
          <a:ln w="22225">
            <a:solidFill>
              <a:srgbClr val="EC0016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>
            <a:off x="3200400" y="3497580"/>
            <a:ext cx="1920240.0" cy="0"/>
          </a:xfrm>
          <a:prstGeom prst="line">
            <a:avLst/>
          </a:prstGeom>
          <a:ln w="22225">
            <a:solidFill>
              <a:srgbClr val="EC0016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1554480" y="3497580"/>
            <a:ext cx="3566160.0" cy="777240"/>
          </a:xfrm>
          <a:prstGeom prst="line">
            <a:avLst/>
          </a:prstGeom>
          <a:ln w="22225">
            <a:solidFill>
              <a:srgbClr val="EC0016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3566160" y="5760720"/>
            <a:ext cx="914400" cy="365760"/>
          </a:xfrm>
          <a:prstGeom prst="rect">
            <a:avLst/>
          </a:prstGeom>
          <a:solidFill>
            <a:srgbClr val="EC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566160" y="5815584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🚨 cross-boundary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6355080"/>
            <a:ext cx="69494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666666"/>
                </a:solidFill>
                <a:latin typeface="Arial"/>
              </a:rPr>
              <a:t>Live edges from the POC: account-service (on-prem) is consumed by 3 azure-side apps.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80960" y="2606040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C0016"/>
                </a:solidFill>
                <a:latin typeface="Arial"/>
              </a:rPr>
              <a:t>What's tagged, surfaced, and labelled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80960" y="3063240"/>
            <a:ext cx="40233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100" b="1" i="0">
                <a:solidFill>
                  <a:srgbClr val="EC0016"/>
                </a:solidFill>
                <a:latin typeface="Arial"/>
              </a:rPr>
              <a:t>— </a:t>
            </a:r>
            <a:r>
              <a:rPr sz="1100" b="1" i="0">
                <a:solidFill>
                  <a:srgbClr val="171717"/>
                </a:solidFill>
                <a:latin typeface="Arial"/>
              </a:rPr>
              <a:t>CMDB drives it. </a:t>
            </a:r>
            <a:r>
              <a:rPr sz="1100" b="0" i="0">
                <a:solidFill>
                  <a:srgbClr val="333333"/>
                </a:solidFill>
                <a:latin typeface="Arial"/>
              </a:rPr>
              <a:t>  Each app's `platform` field (azure / on-prem / library) merges into the graph on every scan.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100" b="1" i="0">
                <a:solidFill>
                  <a:srgbClr val="EC0016"/>
                </a:solidFill>
                <a:latin typeface="Arial"/>
              </a:rPr>
              <a:t>— </a:t>
            </a:r>
            <a:r>
              <a:rPr sz="1100" b="1" i="0">
                <a:solidFill>
                  <a:srgbClr val="171717"/>
                </a:solidFill>
                <a:latin typeface="Arial"/>
              </a:rPr>
              <a:t>Coloured rings. </a:t>
            </a:r>
            <a:r>
              <a:rPr sz="1100" b="0" i="0">
                <a:solidFill>
                  <a:srgbClr val="333333"/>
                </a:solidFill>
                <a:latin typeface="Arial"/>
              </a:rPr>
              <a:t>  Azure apps ring blue, on-prem ring slate — instantly visible on the canvas.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100" b="1" i="0">
                <a:solidFill>
                  <a:srgbClr val="EC0016"/>
                </a:solidFill>
                <a:latin typeface="Arial"/>
              </a:rPr>
              <a:t>— </a:t>
            </a:r>
            <a:r>
              <a:rPr sz="1100" b="1" i="0">
                <a:solidFill>
                  <a:srgbClr val="171717"/>
                </a:solidFill>
                <a:latin typeface="Arial"/>
              </a:rPr>
              <a:t>Platform filter. </a:t>
            </a:r>
            <a:r>
              <a:rPr sz="1100" b="0" i="0">
                <a:solidFill>
                  <a:srgbClr val="333333"/>
                </a:solidFill>
                <a:latin typeface="Arial"/>
              </a:rPr>
              <a:t>  Toolbar dropdown filters the canvas to one platform.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100" b="1" i="0">
                <a:solidFill>
                  <a:srgbClr val="EC0016"/>
                </a:solidFill>
                <a:latin typeface="Arial"/>
              </a:rPr>
              <a:t>— </a:t>
            </a:r>
            <a:r>
              <a:rPr sz="1100" b="1" i="0">
                <a:solidFill>
                  <a:srgbClr val="171717"/>
                </a:solidFill>
                <a:latin typeface="Arial"/>
              </a:rPr>
              <a:t>MR comment banner. </a:t>
            </a:r>
            <a:r>
              <a:rPr sz="1100" b="0" i="0">
                <a:solidFill>
                  <a:srgbClr val="333333"/>
                </a:solidFill>
                <a:latin typeface="Arial"/>
              </a:rPr>
              <a:t>  🚨 Cross-platform impact when source platform ≠ affected platform — placed at the top of the comment.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100" b="1" i="0">
                <a:solidFill>
                  <a:srgbClr val="EC0016"/>
                </a:solidFill>
                <a:latin typeface="Arial"/>
              </a:rPr>
              <a:t>— </a:t>
            </a:r>
            <a:r>
              <a:rPr sz="1100" b="1" i="0">
                <a:solidFill>
                  <a:srgbClr val="171717"/>
                </a:solidFill>
                <a:latin typeface="Arial"/>
              </a:rPr>
              <a:t>Sticky-issue label. </a:t>
            </a:r>
            <a:r>
              <a:rPr sz="1100" b="0" i="0">
                <a:solidFill>
                  <a:srgbClr val="333333"/>
                </a:solidFill>
                <a:latin typeface="Arial"/>
              </a:rPr>
              <a:t>  `impact::cross-platform` (UBS red) auto-applied to downstream issues that span the boundary.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100" b="1" i="0">
                <a:solidFill>
                  <a:srgbClr val="EC0016"/>
                </a:solidFill>
                <a:latin typeface="Arial"/>
              </a:rPr>
              <a:t>— </a:t>
            </a:r>
            <a:r>
              <a:rPr sz="1100" b="1" i="0">
                <a:solidFill>
                  <a:srgbClr val="171717"/>
                </a:solidFill>
                <a:latin typeface="Arial"/>
              </a:rPr>
              <a:t>Same workflow. </a:t>
            </a:r>
            <a:r>
              <a:rPr sz="1100" b="0" i="0">
                <a:solidFill>
                  <a:srgbClr val="333333"/>
                </a:solidFill>
                <a:latin typeface="Arial"/>
              </a:rPr>
              <a:t>  One GitLab, one webhook flow, one canvas — no separate tooling per platform.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2608" y="201168"/>
            <a:ext cx="201168" cy="36576"/>
          </a:xfrm>
          <a:prstGeom prst="rect">
            <a:avLst/>
          </a:prstGeom>
          <a:solidFill>
            <a:srgbClr val="EC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2608" y="301752"/>
            <a:ext cx="201168" cy="36576"/>
          </a:xfrm>
          <a:prstGeom prst="rect">
            <a:avLst/>
          </a:prstGeom>
          <a:solidFill>
            <a:srgbClr val="EC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2608" y="402336"/>
            <a:ext cx="201168" cy="36576"/>
          </a:xfrm>
          <a:prstGeom prst="rect">
            <a:avLst/>
          </a:prstGeom>
          <a:solidFill>
            <a:srgbClr val="EC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97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00000"/>
                </a:solidFill>
                <a:latin typeface="Arial"/>
              </a:rPr>
              <a:t>UBS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0" y="22860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Arial"/>
              </a:rPr>
              <a:t>MAIN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18288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629400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Arial"/>
              </a:rPr>
              <a:t>Sherlock · Dependency Intelligence Platform · Internal · Draft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629400"/>
            <a:ext cx="2286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Arial"/>
              </a:rPr>
              <a:t>MAIN · 12 / 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86868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EC0016"/>
                </a:solidFill>
                <a:latin typeface="Arial"/>
              </a:rPr>
              <a:t>AUTO-DOCUMENTATION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09728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71717"/>
                </a:solidFill>
                <a:latin typeface="Arial"/>
              </a:rPr>
              <a:t>Every app gets a self-maintaining README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874519"/>
            <a:ext cx="822960" cy="54864"/>
          </a:xfrm>
          <a:prstGeom prst="rect">
            <a:avLst/>
          </a:prstGeom>
          <a:solidFill>
            <a:srgbClr val="EC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0116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Arial"/>
              </a:rPr>
              <a:t>One-click per app · draft MR in THAT app's own repo · reviewed by THAT app's own team.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606040"/>
            <a:ext cx="758952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606040"/>
            <a:ext cx="7589520" cy="41148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679192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onsolas"/>
              </a:rPr>
              <a:t>📄  banking/legacy-ledger  ·  README.md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2679192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FCA5A5"/>
                </a:solidFill>
                <a:latin typeface="Arial"/>
              </a:rPr>
              <a:t>MR  sherlock::autodoc  ·  Draft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017520"/>
            <a:ext cx="73152" cy="3246120"/>
          </a:xfrm>
          <a:prstGeom prst="rect">
            <a:avLst/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246120"/>
            <a:ext cx="7040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onsolas"/>
              </a:rPr>
              <a:t>&lt;!-- sherlock:autodoc-start --&gt;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566160"/>
            <a:ext cx="7040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71717"/>
                </a:solidFill>
                <a:latin typeface="Arial"/>
              </a:rPr>
              <a:t>## 🔎 Auto-generated by Sherlock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8680" y="3977640"/>
            <a:ext cx="7040880" cy="640080"/>
          </a:xfrm>
          <a:prstGeom prst="rect">
            <a:avLst/>
          </a:prstGeom>
          <a:solidFill>
            <a:srgbClr val="EEF2FF"/>
          </a:solidFill>
          <a:ln w="9525">
            <a:solidFill>
              <a:srgbClr val="C7D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4050792"/>
            <a:ext cx="6675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3730A3"/>
                </a:solidFill>
                <a:latin typeface="Arial"/>
              </a:rPr>
              <a:t>PURPOSE  ·  written by Gemini 2.5 Flash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4279392"/>
            <a:ext cx="6675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171717"/>
                </a:solidFill>
                <a:latin typeface="Arial"/>
              </a:rPr>
              <a:t>"The legacy-ledger application updates ledger balances and generates a ledger report."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754880"/>
            <a:ext cx="7040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71717"/>
                </a:solidFill>
                <a:latin typeface="Arial"/>
              </a:rPr>
              <a:t>### Ownership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029200"/>
            <a:ext cx="7040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onsolas"/>
              </a:rPr>
              <a:t>core-banking   ·   tier 0   ·   #core-banking-oncall   ·   cobol-gnucobol   ·   commit c4c9ce66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440680"/>
            <a:ext cx="7040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71717"/>
                </a:solidFill>
                <a:latin typeface="Arial"/>
              </a:rPr>
              <a:t>### What this application provides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715000"/>
            <a:ext cx="7040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onsolas"/>
              </a:rPr>
              <a:t>owned schema  ledger   ·   writes  ledger.balances   ·   writes file  /shared/reports/LEDGER.RPT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6080760"/>
            <a:ext cx="7040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71717"/>
                </a:solidFill>
                <a:latin typeface="Arial"/>
              </a:rPr>
              <a:t>### What this application depends 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6355080"/>
            <a:ext cx="7040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onsolas"/>
              </a:rPr>
              <a:t>reads file  /shared/postings/POSTINGS.DAT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68680" y="6739128"/>
            <a:ext cx="7040880" cy="2743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6775704"/>
            <a:ext cx="6766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92400E"/>
                </a:solidFill>
                <a:latin typeface="Arial"/>
              </a:rPr>
              <a:t>IMPACT  ·  changes here may affect 2 apps:  account-service, analytics-service  ·  depends on 0 upstream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760" y="260604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C0016"/>
                </a:solidFill>
                <a:latin typeface="Arial"/>
              </a:rPr>
              <a:t>Key properties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60" y="3017520"/>
            <a:ext cx="324612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000" b="1" i="0">
                <a:solidFill>
                  <a:srgbClr val="EC0016"/>
                </a:solidFill>
                <a:latin typeface="Arial"/>
              </a:rPr>
              <a:t>— </a:t>
            </a:r>
            <a:r>
              <a:rPr sz="1000" b="1" i="0">
                <a:solidFill>
                  <a:srgbClr val="171717"/>
                </a:solidFill>
                <a:latin typeface="Arial"/>
              </a:rPr>
              <a:t>Per-app. </a:t>
            </a:r>
            <a:r>
              <a:rPr sz="1000" b="0" i="0">
                <a:solidFill>
                  <a:srgbClr val="333333"/>
                </a:solidFill>
                <a:latin typeface="Arial"/>
              </a:rPr>
              <a:t>  One MR in the app's own repo.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000" b="1" i="0">
                <a:solidFill>
                  <a:srgbClr val="EC0016"/>
                </a:solidFill>
                <a:latin typeface="Arial"/>
              </a:rPr>
              <a:t>— </a:t>
            </a:r>
            <a:r>
              <a:rPr sz="1000" b="1" i="0">
                <a:solidFill>
                  <a:srgbClr val="171717"/>
                </a:solidFill>
                <a:latin typeface="Arial"/>
              </a:rPr>
              <a:t>Reviewed by owner. </a:t>
            </a:r>
            <a:r>
              <a:rPr sz="1000" b="0" i="0">
                <a:solidFill>
                  <a:srgbClr val="333333"/>
                </a:solidFill>
                <a:latin typeface="Arial"/>
              </a:rPr>
              <a:t>  Not a cross-team propagation — that's slide 10.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000" b="1" i="0">
                <a:solidFill>
                  <a:srgbClr val="EC0016"/>
                </a:solidFill>
                <a:latin typeface="Arial"/>
              </a:rPr>
              <a:t>— </a:t>
            </a:r>
            <a:r>
              <a:rPr sz="1000" b="1" i="0">
                <a:solidFill>
                  <a:srgbClr val="171717"/>
                </a:solidFill>
                <a:latin typeface="Arial"/>
              </a:rPr>
              <a:t>Non-destructive. </a:t>
            </a:r>
            <a:r>
              <a:rPr sz="1000" b="0" i="0">
                <a:solidFill>
                  <a:srgbClr val="333333"/>
                </a:solidFill>
                <a:latin typeface="Arial"/>
              </a:rPr>
              <a:t>  Only the marker-delimited block is touched.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000" b="1" i="0">
                <a:solidFill>
                  <a:srgbClr val="EC0016"/>
                </a:solidFill>
                <a:latin typeface="Arial"/>
              </a:rPr>
              <a:t>— </a:t>
            </a:r>
            <a:r>
              <a:rPr sz="1000" b="1" i="0">
                <a:solidFill>
                  <a:srgbClr val="171717"/>
                </a:solidFill>
                <a:latin typeface="Arial"/>
              </a:rPr>
              <a:t>Never direct-commit. </a:t>
            </a:r>
            <a:r>
              <a:rPr sz="1000" b="0" i="0">
                <a:solidFill>
                  <a:srgbClr val="333333"/>
                </a:solidFill>
                <a:latin typeface="Arial"/>
              </a:rPr>
              <a:t>  Always a draft MR.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000" b="1" i="0">
                <a:solidFill>
                  <a:srgbClr val="EC0016"/>
                </a:solidFill>
                <a:latin typeface="Arial"/>
              </a:rPr>
              <a:t>— </a:t>
            </a:r>
            <a:r>
              <a:rPr sz="1000" b="1" i="0">
                <a:solidFill>
                  <a:srgbClr val="171717"/>
                </a:solidFill>
                <a:latin typeface="Arial"/>
              </a:rPr>
              <a:t>LLM pluggable. </a:t>
            </a:r>
            <a:r>
              <a:rPr sz="1000" b="0" i="0">
                <a:solidFill>
                  <a:srgbClr val="333333"/>
                </a:solidFill>
                <a:latin typeface="Arial"/>
              </a:rPr>
              <a:t>  Mock · Gemini · Azure OpenAI. One env var.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000" b="1" i="0">
                <a:solidFill>
                  <a:srgbClr val="EC0016"/>
                </a:solidFill>
                <a:latin typeface="Arial"/>
              </a:rPr>
              <a:t>— </a:t>
            </a:r>
            <a:r>
              <a:rPr sz="1000" b="1" i="0">
                <a:solidFill>
                  <a:srgbClr val="171717"/>
                </a:solidFill>
                <a:latin typeface="Arial"/>
              </a:rPr>
              <a:t>Grounded. </a:t>
            </a:r>
            <a:r>
              <a:rPr sz="1000" b="0" i="0">
                <a:solidFill>
                  <a:srgbClr val="333333"/>
                </a:solidFill>
                <a:latin typeface="Arial"/>
              </a:rPr>
              <a:t>  Prompt feeds only graph evidence — no hallucinated contracts.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355080"/>
            <a:ext cx="7589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666666"/>
                </a:solidFill>
                <a:latin typeface="Arial"/>
              </a:rPr>
              <a:t>Actual Gemini output from the POC, quoted verbatim from banking/legacy-ledger autodoc MR.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2608" y="201168"/>
            <a:ext cx="201168" cy="36576"/>
          </a:xfrm>
          <a:prstGeom prst="rect">
            <a:avLst/>
          </a:prstGeom>
          <a:solidFill>
            <a:srgbClr val="EC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2608" y="301752"/>
            <a:ext cx="201168" cy="36576"/>
          </a:xfrm>
          <a:prstGeom prst="rect">
            <a:avLst/>
          </a:prstGeom>
          <a:solidFill>
            <a:srgbClr val="EC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2608" y="402336"/>
            <a:ext cx="201168" cy="36576"/>
          </a:xfrm>
          <a:prstGeom prst="rect">
            <a:avLst/>
          </a:prstGeom>
          <a:solidFill>
            <a:srgbClr val="EC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97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00000"/>
                </a:solidFill>
                <a:latin typeface="Arial"/>
              </a:rPr>
              <a:t>UBS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0" y="22860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Arial"/>
              </a:rPr>
              <a:t>MAIN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18288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629400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Arial"/>
              </a:rPr>
              <a:t>Sherlock · Dependency Intelligence Platform · Internal · Draft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629400"/>
            <a:ext cx="2286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Arial"/>
              </a:rPr>
              <a:t>MAIN · 13 / 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86868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EC0016"/>
                </a:solidFill>
                <a:latin typeface="Arial"/>
              </a:rPr>
              <a:t>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09728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71717"/>
                </a:solidFill>
                <a:latin typeface="Arial"/>
              </a:rPr>
              <a:t>Proof of concept — what's running today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874519"/>
            <a:ext cx="822960" cy="54864"/>
          </a:xfrm>
          <a:prstGeom prst="rect">
            <a:avLst/>
          </a:prstGeom>
          <a:solidFill>
            <a:srgbClr val="EC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0116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Arial"/>
              </a:rPr>
              <a:t>All five loops live in a local environment. Ten fixture banking apps + one auto-discovered mid-demo. Real enterprise language mix.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743200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C0016"/>
                </a:solidFill>
                <a:latin typeface="Arial"/>
              </a:rPr>
              <a:t>Polyglot fixture covering UBS's real language mix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200400"/>
            <a:ext cx="530352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200" b="1" i="0">
                <a:solidFill>
                  <a:srgbClr val="EC0016"/>
                </a:solidFill>
                <a:latin typeface="Arial"/>
              </a:rPr>
              <a:t>— </a:t>
            </a:r>
            <a:r>
              <a:rPr sz="1200" b="1" i="0">
                <a:solidFill>
                  <a:srgbClr val="171717"/>
                </a:solidFill>
                <a:latin typeface="Arial"/>
              </a:rPr>
              <a:t>Java/Spring Boot · </a:t>
            </a:r>
            <a:r>
              <a:rPr sz="1200" b="0" i="0">
                <a:solidFill>
                  <a:srgbClr val="333333"/>
                </a:solidFill>
                <a:latin typeface="Arial"/>
              </a:rPr>
              <a:t>  account, transaction, customer, notification services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200" b="1" i="0">
                <a:solidFill>
                  <a:srgbClr val="EC0016"/>
                </a:solidFill>
                <a:latin typeface="Arial"/>
              </a:rPr>
              <a:t>— </a:t>
            </a:r>
            <a:r>
              <a:rPr sz="1200" b="1" i="0">
                <a:solidFill>
                  <a:srgbClr val="171717"/>
                </a:solidFill>
                <a:latin typeface="Arial"/>
              </a:rPr>
              <a:t>Python/FastAPI · </a:t>
            </a:r>
            <a:r>
              <a:rPr sz="1200" b="0" i="0">
                <a:solidFill>
                  <a:srgbClr val="333333"/>
                </a:solidFill>
                <a:latin typeface="Arial"/>
              </a:rPr>
              <a:t>  analytics, fraud-detection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200" b="1" i="0">
                <a:solidFill>
                  <a:srgbClr val="EC0016"/>
                </a:solidFill>
                <a:latin typeface="Arial"/>
              </a:rPr>
              <a:t>— </a:t>
            </a:r>
            <a:r>
              <a:rPr sz="1200" b="1" i="0">
                <a:solidFill>
                  <a:srgbClr val="171717"/>
                </a:solidFill>
                <a:latin typeface="Arial"/>
              </a:rPr>
              <a:t>Node/Express · </a:t>
            </a:r>
            <a:r>
              <a:rPr sz="1200" b="0" i="0">
                <a:solidFill>
                  <a:srgbClr val="333333"/>
                </a:solidFill>
                <a:latin typeface="Arial"/>
              </a:rPr>
              <a:t>  web-portal-bff, mobile-bff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200" b="1" i="0">
                <a:solidFill>
                  <a:srgbClr val="EC0016"/>
                </a:solidFill>
                <a:latin typeface="Arial"/>
              </a:rPr>
              <a:t>— </a:t>
            </a:r>
            <a:r>
              <a:rPr sz="1200" b="1" i="0">
                <a:solidFill>
                  <a:srgbClr val="171717"/>
                </a:solidFill>
                <a:latin typeface="Arial"/>
              </a:rPr>
              <a:t>COBOL · </a:t>
            </a:r>
            <a:r>
              <a:rPr sz="1200" b="0" i="0">
                <a:solidFill>
                  <a:srgbClr val="333333"/>
                </a:solidFill>
                <a:latin typeface="Arial"/>
              </a:rPr>
              <a:t>  legacy-ledger (postings batch + ledger report)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200" b="1" i="0">
                <a:solidFill>
                  <a:srgbClr val="EC0016"/>
                </a:solidFill>
                <a:latin typeface="Arial"/>
              </a:rPr>
              <a:t>— </a:t>
            </a:r>
            <a:r>
              <a:rPr sz="1200" b="1" i="0">
                <a:solidFill>
                  <a:srgbClr val="171717"/>
                </a:solidFill>
                <a:latin typeface="Arial"/>
              </a:rPr>
              <a:t>Hybrid platform · </a:t>
            </a:r>
            <a:r>
              <a:rPr sz="1200" b="0" i="0">
                <a:solidFill>
                  <a:srgbClr val="333333"/>
                </a:solidFill>
                <a:latin typeface="Arial"/>
              </a:rPr>
              <a:t>  5 on-prem apps + 4 azure apps + 1 library, tagged via CMDB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200" b="1" i="0">
                <a:solidFill>
                  <a:srgbClr val="EC0016"/>
                </a:solidFill>
                <a:latin typeface="Arial"/>
              </a:rPr>
              <a:t>— </a:t>
            </a:r>
            <a:r>
              <a:rPr sz="1200" b="1" i="0">
                <a:solidFill>
                  <a:srgbClr val="171717"/>
                </a:solidFill>
                <a:latin typeface="Arial"/>
              </a:rPr>
              <a:t>Contracts · </a:t>
            </a:r>
            <a:r>
              <a:rPr sz="1200" b="0" i="0">
                <a:solidFill>
                  <a:srgbClr val="333333"/>
                </a:solidFill>
                <a:latin typeface="Arial"/>
              </a:rPr>
              <a:t>  OpenAPI, AsyncAPI/Kafka, Flyway SQL, shared file feeds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200" b="1" i="0">
                <a:solidFill>
                  <a:srgbClr val="EC0016"/>
                </a:solidFill>
                <a:latin typeface="Arial"/>
              </a:rPr>
              <a:t>— </a:t>
            </a:r>
            <a:r>
              <a:rPr sz="1200" b="1" i="0">
                <a:solidFill>
                  <a:srgbClr val="171717"/>
                </a:solidFill>
                <a:latin typeface="Arial"/>
              </a:rPr>
              <a:t>LLM · </a:t>
            </a:r>
            <a:r>
              <a:rPr sz="1200" b="0" i="0">
                <a:solidFill>
                  <a:srgbClr val="333333"/>
                </a:solidFill>
                <a:latin typeface="Arial"/>
              </a:rPr>
              <a:t>  Gemini (local) + Azure OpenAI (enterprise), pluggable adapter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74320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C0016"/>
                </a:solidFill>
                <a:latin typeface="Arial"/>
              </a:rPr>
              <a:t>POC numbers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3200400"/>
            <a:ext cx="868680" cy="411480"/>
          </a:xfrm>
          <a:prstGeom prst="rect">
            <a:avLst/>
          </a:prstGeom>
          <a:solidFill>
            <a:srgbClr val="EC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3246120"/>
            <a:ext cx="868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rial"/>
              </a:rPr>
              <a:t>59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2360" y="3291840"/>
            <a:ext cx="4069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Arial"/>
              </a:rPr>
              <a:t>graph nodes · 81 edges across 6 coupling types incl. FILE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3675888"/>
            <a:ext cx="868680" cy="411480"/>
          </a:xfrm>
          <a:prstGeom prst="rect">
            <a:avLst/>
          </a:prstGeom>
          <a:solidFill>
            <a:srgbClr val="EC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3721608"/>
            <a:ext cx="868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rial"/>
              </a:rPr>
              <a:t>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2360" y="3767328"/>
            <a:ext cx="4069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Arial"/>
              </a:rPr>
              <a:t>REST call edges — exact method + path via regex + tree-sitter AST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4151376"/>
            <a:ext cx="868680" cy="411480"/>
          </a:xfrm>
          <a:prstGeom prst="rect">
            <a:avLst/>
          </a:prstGeom>
          <a:solidFill>
            <a:srgbClr val="EC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197096"/>
            <a:ext cx="868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rial"/>
              </a:rPr>
              <a:t>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52360" y="4242816"/>
            <a:ext cx="4069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Arial"/>
              </a:rPr>
              <a:t>break kinds — endpoint/topic/table/file/library, required-vs-optional aware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4626864"/>
            <a:ext cx="868680" cy="411480"/>
          </a:xfrm>
          <a:prstGeom prst="rect">
            <a:avLst/>
          </a:prstGeom>
          <a:solidFill>
            <a:srgbClr val="EC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4672584"/>
            <a:ext cx="868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2360" y="4718304"/>
            <a:ext cx="4069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Arial"/>
              </a:rPr>
              <a:t>languages parsed at AST level — Java · Python · JS/TS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5102352"/>
            <a:ext cx="868680" cy="411480"/>
          </a:xfrm>
          <a:prstGeom prst="rect">
            <a:avLst/>
          </a:prstGeom>
          <a:solidFill>
            <a:srgbClr val="EC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5148072"/>
            <a:ext cx="868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rial"/>
              </a:rPr>
              <a:t>60s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52360" y="5193792"/>
            <a:ext cx="4069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Arial"/>
              </a:rPr>
              <a:t>reconciler interval — new GitLab projects auto-discovered + hooked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5577840"/>
            <a:ext cx="868680" cy="411480"/>
          </a:xfrm>
          <a:prstGeom prst="rect">
            <a:avLst/>
          </a:prstGeom>
          <a:solidFill>
            <a:srgbClr val="EC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5623560"/>
            <a:ext cx="868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52360" y="5669280"/>
            <a:ext cx="4069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Arial"/>
              </a:rPr>
              <a:t>autodoc MRs opened via Gemini in one demo session (click-driven)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26364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66666"/>
                </a:solidFill>
                <a:latin typeface="Arial"/>
              </a:rPr>
              <a:t>Full live demo available on request — 15 min end-to-end across all five loops.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2608" y="201168"/>
            <a:ext cx="201168" cy="36576"/>
          </a:xfrm>
          <a:prstGeom prst="rect">
            <a:avLst/>
          </a:prstGeom>
          <a:solidFill>
            <a:srgbClr val="EC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2608" y="301752"/>
            <a:ext cx="201168" cy="36576"/>
          </a:xfrm>
          <a:prstGeom prst="rect">
            <a:avLst/>
          </a:prstGeom>
          <a:solidFill>
            <a:srgbClr val="EC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2608" y="402336"/>
            <a:ext cx="201168" cy="36576"/>
          </a:xfrm>
          <a:prstGeom prst="rect">
            <a:avLst/>
          </a:prstGeom>
          <a:solidFill>
            <a:srgbClr val="EC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97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00000"/>
                </a:solidFill>
                <a:latin typeface="Arial"/>
              </a:rPr>
              <a:t>UBS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0" y="22860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Arial"/>
              </a:rPr>
              <a:t>MAIN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18288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629400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Arial"/>
              </a:rPr>
              <a:t>Sherlock · Dependency Intelligence Platform · Internal · Draft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629400"/>
            <a:ext cx="2286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Arial"/>
              </a:rPr>
              <a:t>MAIN · 14 / 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86868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EC0016"/>
                </a:solidFill>
                <a:latin typeface="Arial"/>
              </a:rPr>
              <a:t>WHERE THIS GOES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09728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71717"/>
                </a:solidFill>
                <a:latin typeface="Arial"/>
              </a:rPr>
              <a:t>Roadmap — four horizons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874519"/>
            <a:ext cx="822960" cy="54864"/>
          </a:xfrm>
          <a:prstGeom prst="rect">
            <a:avLst/>
          </a:prstGeom>
          <a:solidFill>
            <a:srgbClr val="EC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0116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Arial"/>
              </a:rPr>
              <a:t>H1 and most of H2 are already running in the POC. Pilot funds operationalization + first domain. H3–H4 follow once visibility is embedded.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651760"/>
            <a:ext cx="822960" cy="960120"/>
          </a:xfrm>
          <a:prstGeom prst="rect">
            <a:avLst/>
          </a:prstGeom>
          <a:solidFill>
            <a:srgbClr val="EC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76148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H1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163824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Arial"/>
              </a:rPr>
              <a:t>POC ✓ · pilot 0–3 mo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17320" y="2651760"/>
            <a:ext cx="1024128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00200" y="2788920"/>
            <a:ext cx="9875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71717"/>
                </a:solidFill>
                <a:latin typeface="Arial"/>
              </a:rPr>
              <a:t>Cross-app visibility + MR impact bot + auto-discovery + hybrid platform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3154680"/>
            <a:ext cx="9875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Arial"/>
              </a:rPr>
              <a:t>Canvas live. MR impact bot live. Sticky impact tags live. Hybrid Azure ↔ on-prem callouts live. Reconciler auto-discovers new GitLab projects, installs webhooks, detects renames and archival. Pilot = production hardening + first domain rollout.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685032"/>
            <a:ext cx="822960" cy="9601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794760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H2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197096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Arial"/>
              </a:rPr>
              <a:t>POC started · pilot 3–6 mo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417320" y="3685032"/>
            <a:ext cx="1024128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00200" y="3822192"/>
            <a:ext cx="9875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71717"/>
                </a:solidFill>
                <a:latin typeface="Arial"/>
              </a:rPr>
              <a:t>Auto-documentation of legacy code (LLM)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00200" y="4187952"/>
            <a:ext cx="9875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Arial"/>
              </a:rPr>
              <a:t>Per-app draft MR with a Sherlock-managed README section; Gemini + Azure OpenAI adapters already wired; one-click from canvas. Pilot work: scheduled loop, priority scoring, hierarchical summarization, COBOL-tuned prompts.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718304"/>
            <a:ext cx="822960" cy="9601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4828032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H3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23036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Arial"/>
              </a:rPr>
              <a:t>6–12 mo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417320" y="4718304"/>
            <a:ext cx="1024128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600200" y="4855464"/>
            <a:ext cx="9875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71717"/>
                </a:solidFill>
                <a:latin typeface="Arial"/>
              </a:rPr>
              <a:t>SLA dashboards + governance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00200" y="5221224"/>
            <a:ext cx="9875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Arial"/>
              </a:rPr>
              <a:t>Mean-time-to-clear impact tag per team. Optional hard-gate for catastrophic breaks. Domain-level architectural-debt score. Backstage plugin.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5751576"/>
            <a:ext cx="822960" cy="9601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5861304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H4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263640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Arial"/>
              </a:rPr>
              <a:t>12+ mo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417320" y="5751576"/>
            <a:ext cx="1024128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600200" y="5888736"/>
            <a:ext cx="9875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71717"/>
                </a:solidFill>
                <a:latin typeface="Arial"/>
              </a:rPr>
              <a:t>Runtime-signal integration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00200" y="6254496"/>
            <a:ext cx="9875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Arial"/>
              </a:rPr>
              <a:t>Cross-validate static edges against Dynatrace traces. Flag dead edges (never fire). Flag missing edges (fires in prod, not in code). Historical graph diffs.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2608" y="201168"/>
            <a:ext cx="201168" cy="36576"/>
          </a:xfrm>
          <a:prstGeom prst="rect">
            <a:avLst/>
          </a:prstGeom>
          <a:solidFill>
            <a:srgbClr val="EC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2608" y="301752"/>
            <a:ext cx="201168" cy="36576"/>
          </a:xfrm>
          <a:prstGeom prst="rect">
            <a:avLst/>
          </a:prstGeom>
          <a:solidFill>
            <a:srgbClr val="EC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2608" y="402336"/>
            <a:ext cx="201168" cy="36576"/>
          </a:xfrm>
          <a:prstGeom prst="rect">
            <a:avLst/>
          </a:prstGeom>
          <a:solidFill>
            <a:srgbClr val="EC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97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00000"/>
                </a:solidFill>
                <a:latin typeface="Arial"/>
              </a:rPr>
              <a:t>UBS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0" y="22860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Arial"/>
              </a:rPr>
              <a:t>MAIN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18288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629400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Arial"/>
              </a:rPr>
              <a:t>Sherlock · Dependency Intelligence Platform · Internal · Draft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629400"/>
            <a:ext cx="2286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Arial"/>
              </a:rPr>
              <a:t>MAIN · 15 / 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86868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EC0016"/>
                </a:solidFill>
                <a:latin typeface="Arial"/>
              </a:rPr>
              <a:t>HOW WE MOVE FROM POC TO PRODUCTION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09728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71717"/>
                </a:solidFill>
                <a:latin typeface="Arial"/>
              </a:rPr>
              <a:t>Pilot plan — 3 months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874519"/>
            <a:ext cx="822960" cy="54864"/>
          </a:xfrm>
          <a:prstGeom prst="rect">
            <a:avLst/>
          </a:prstGeom>
          <a:solidFill>
            <a:srgbClr val="EC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0116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Arial"/>
              </a:rPr>
              <a:t>Most of the build is done in the POC. These three months turn it into a platform-embedded, auditable, domain-ready service.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651760"/>
            <a:ext cx="365760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651760"/>
            <a:ext cx="3657600" cy="73152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74320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EC0016"/>
                </a:solidFill>
                <a:latin typeface="Arial"/>
              </a:rPr>
              <a:t>MONTH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2999232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Production-harden. Embed.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611880"/>
            <a:ext cx="320040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000" b="1" i="0">
                <a:solidFill>
                  <a:srgbClr val="EC0016"/>
                </a:solidFill>
                <a:latin typeface="Arial"/>
              </a:rPr>
              <a:t>— </a:t>
            </a:r>
            <a:r>
              <a:rPr sz="1000" b="0" i="0">
                <a:solidFill>
                  <a:srgbClr val="333333"/>
                </a:solidFill>
                <a:latin typeface="Arial"/>
              </a:rPr>
              <a:t>Deploy Sherlock alongside the existing GitLab CI stack (shared infra).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000" b="1" i="0">
                <a:solidFill>
                  <a:srgbClr val="EC0016"/>
                </a:solidFill>
                <a:latin typeface="Arial"/>
              </a:rPr>
              <a:t>— </a:t>
            </a:r>
            <a:r>
              <a:rPr sz="1000" b="0" i="0">
                <a:solidFill>
                  <a:srgbClr val="333333"/>
                </a:solidFill>
                <a:latin typeface="Arial"/>
              </a:rPr>
              <a:t>Swap PAT for a GitLab bot account / GitLab App with group scopes.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000" b="1" i="0">
                <a:solidFill>
                  <a:srgbClr val="EC0016"/>
                </a:solidFill>
                <a:latin typeface="Arial"/>
              </a:rPr>
              <a:t>— </a:t>
            </a:r>
            <a:r>
              <a:rPr sz="1000" b="0" i="0">
                <a:solidFill>
                  <a:srgbClr val="333333"/>
                </a:solidFill>
                <a:latin typeface="Arial"/>
              </a:rPr>
              <a:t>Security review + data-residency sign-off (code-only, no PII — A4 appendix).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000" b="1" i="0">
                <a:solidFill>
                  <a:srgbClr val="EC0016"/>
                </a:solidFill>
                <a:latin typeface="Arial"/>
              </a:rPr>
              <a:t>— </a:t>
            </a:r>
            <a:r>
              <a:rPr sz="1000" b="0" i="0">
                <a:solidFill>
                  <a:srgbClr val="333333"/>
                </a:solidFill>
                <a:latin typeface="Arial"/>
              </a:rPr>
              <a:t>Wire CMDB read-only + Slack/Teams notifications to on-call channels.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000" b="1" i="0">
                <a:solidFill>
                  <a:srgbClr val="EC0016"/>
                </a:solidFill>
                <a:latin typeface="Arial"/>
              </a:rPr>
              <a:t>— </a:t>
            </a:r>
            <a:r>
              <a:rPr sz="1000" b="0" i="0">
                <a:solidFill>
                  <a:srgbClr val="333333"/>
                </a:solidFill>
                <a:latin typeface="Arial"/>
              </a:rPr>
              <a:t>Ingest one pilot domain (3–10 apps) — reconciler auto-onboards new repos.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43400" y="2651760"/>
            <a:ext cx="365760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43400" y="2651760"/>
            <a:ext cx="3657600" cy="73152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274320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EC0016"/>
                </a:solidFill>
                <a:latin typeface="Arial"/>
              </a:rPr>
              <a:t>MONTH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2999232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Enable the MR bot + autodoc.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611880"/>
            <a:ext cx="320040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000" b="1" i="0">
                <a:solidFill>
                  <a:srgbClr val="EC0016"/>
                </a:solidFill>
                <a:latin typeface="Arial"/>
              </a:rPr>
              <a:t>— </a:t>
            </a:r>
            <a:r>
              <a:rPr sz="1000" b="0" i="0">
                <a:solidFill>
                  <a:srgbClr val="333333"/>
                </a:solidFill>
                <a:latin typeface="Arial"/>
              </a:rPr>
              <a:t>Turn on MR impact bot for pilot domain in opt-in mode.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000" b="1" i="0">
                <a:solidFill>
                  <a:srgbClr val="EC0016"/>
                </a:solidFill>
                <a:latin typeface="Arial"/>
              </a:rPr>
              <a:t>— </a:t>
            </a:r>
            <a:r>
              <a:rPr sz="1000" b="0" i="0">
                <a:solidFill>
                  <a:srgbClr val="333333"/>
                </a:solidFill>
                <a:latin typeface="Arial"/>
              </a:rPr>
              <a:t>Measure break detection, author response, false-positive rate.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000" b="1" i="0">
                <a:solidFill>
                  <a:srgbClr val="EC0016"/>
                </a:solidFill>
                <a:latin typeface="Arial"/>
              </a:rPr>
              <a:t>— </a:t>
            </a:r>
            <a:r>
              <a:rPr sz="1000" b="0" i="0">
                <a:solidFill>
                  <a:srgbClr val="333333"/>
                </a:solidFill>
                <a:latin typeface="Arial"/>
              </a:rPr>
              <a:t>Turn on autodoc in draft mode (one-click); gate scheduled loop behind opt-in.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000" b="1" i="0">
                <a:solidFill>
                  <a:srgbClr val="EC0016"/>
                </a:solidFill>
                <a:latin typeface="Arial"/>
              </a:rPr>
              <a:t>— </a:t>
            </a:r>
            <a:r>
              <a:rPr sz="1000" b="0" i="0">
                <a:solidFill>
                  <a:srgbClr val="333333"/>
                </a:solidFill>
                <a:latin typeface="Arial"/>
              </a:rPr>
              <a:t>Iterate parsers for any domain-specific idioms (in-house DB libs, schedulers).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38160" y="2651760"/>
            <a:ext cx="365760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38160" y="2651760"/>
            <a:ext cx="3657600" cy="73152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66760" y="274320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EC0016"/>
                </a:solidFill>
                <a:latin typeface="Arial"/>
              </a:rPr>
              <a:t>MONTH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2999232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Prove value. Decide scale.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3611880"/>
            <a:ext cx="320040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000" b="1" i="0">
                <a:solidFill>
                  <a:srgbClr val="EC0016"/>
                </a:solidFill>
                <a:latin typeface="Arial"/>
              </a:rPr>
              <a:t>— </a:t>
            </a:r>
            <a:r>
              <a:rPr sz="1000" b="0" i="0">
                <a:solidFill>
                  <a:srgbClr val="333333"/>
                </a:solidFill>
                <a:latin typeface="Arial"/>
              </a:rPr>
              <a:t>Enable sticky impact tags for pilot domain.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000" b="1" i="0">
                <a:solidFill>
                  <a:srgbClr val="EC0016"/>
                </a:solidFill>
                <a:latin typeface="Arial"/>
              </a:rPr>
              <a:t>— </a:t>
            </a:r>
            <a:r>
              <a:rPr sz="1000" b="0" i="0">
                <a:solidFill>
                  <a:srgbClr val="333333"/>
                </a:solidFill>
                <a:latin typeface="Arial"/>
              </a:rPr>
              <a:t>Onboard a second domain to test multi-group + cross-team notification.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000" b="1" i="0">
                <a:solidFill>
                  <a:srgbClr val="EC0016"/>
                </a:solidFill>
                <a:latin typeface="Arial"/>
              </a:rPr>
              <a:t>— </a:t>
            </a:r>
            <a:r>
              <a:rPr sz="1000" b="0" i="0">
                <a:solidFill>
                  <a:srgbClr val="333333"/>
                </a:solidFill>
                <a:latin typeface="Arial"/>
              </a:rPr>
              <a:t>Present outcome to CTO office — MTTD reduction, engagement, coverage.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000" b="1" i="0">
                <a:solidFill>
                  <a:srgbClr val="EC0016"/>
                </a:solidFill>
                <a:latin typeface="Arial"/>
              </a:rPr>
              <a:t>— </a:t>
            </a:r>
            <a:r>
              <a:rPr sz="1000" b="0" i="0">
                <a:solidFill>
                  <a:srgbClr val="333333"/>
                </a:solidFill>
                <a:latin typeface="Arial"/>
              </a:rPr>
              <a:t>Decision: enterprise rollout plan for H2 autodoc scheduler + H3 SLA board.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2608" y="201168"/>
            <a:ext cx="201168" cy="36576"/>
          </a:xfrm>
          <a:prstGeom prst="rect">
            <a:avLst/>
          </a:prstGeom>
          <a:solidFill>
            <a:srgbClr val="EC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2608" y="301752"/>
            <a:ext cx="201168" cy="36576"/>
          </a:xfrm>
          <a:prstGeom prst="rect">
            <a:avLst/>
          </a:prstGeom>
          <a:solidFill>
            <a:srgbClr val="EC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2608" y="402336"/>
            <a:ext cx="201168" cy="36576"/>
          </a:xfrm>
          <a:prstGeom prst="rect">
            <a:avLst/>
          </a:prstGeom>
          <a:solidFill>
            <a:srgbClr val="EC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97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00000"/>
                </a:solidFill>
                <a:latin typeface="Arial"/>
              </a:rPr>
              <a:t>UBS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0" y="22860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Arial"/>
              </a:rPr>
              <a:t>MAIN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18288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629400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Arial"/>
              </a:rPr>
              <a:t>Sherlock · Dependency Intelligence Platform · Internal · Draft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629400"/>
            <a:ext cx="2286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Arial"/>
              </a:rPr>
              <a:t>MAIN · 16 / 28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731520"/>
            <a:ext cx="12191695" cy="576072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86868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EC0016"/>
                </a:solidFill>
                <a:latin typeface="Arial"/>
              </a:rPr>
              <a:t>WHAT WE NEED FROM YOU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09728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71717"/>
                </a:solidFill>
                <a:latin typeface="Arial"/>
              </a:rPr>
              <a:t>The ask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1874519"/>
            <a:ext cx="822960" cy="54864"/>
          </a:xfrm>
          <a:prstGeom prst="rect">
            <a:avLst/>
          </a:prstGeom>
          <a:solidFill>
            <a:srgbClr val="EC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2560320"/>
            <a:ext cx="91440" cy="777240"/>
          </a:xfrm>
          <a:prstGeom prst="rect">
            <a:avLst/>
          </a:prstGeom>
          <a:solidFill>
            <a:srgbClr val="EC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2624328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3-MONTH FUNDED PILOT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29718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D0D0D0"/>
                </a:solidFill>
                <a:latin typeface="Arial"/>
              </a:rPr>
              <a:t>Approval to run the plan on the previous slide.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520440"/>
            <a:ext cx="91440" cy="777240"/>
          </a:xfrm>
          <a:prstGeom prst="rect">
            <a:avLst/>
          </a:prstGeom>
          <a:solidFill>
            <a:srgbClr val="EC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3584448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2–3 FTEs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931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D0D0D0"/>
                </a:solidFill>
                <a:latin typeface="Arial"/>
              </a:rPr>
              <a:t>1 senior engineer · 1 engineer · 1 UX/platform (shared from platform org).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480560"/>
            <a:ext cx="91440" cy="777240"/>
          </a:xfrm>
          <a:prstGeom prst="rect">
            <a:avLst/>
          </a:prstGeom>
          <a:solidFill>
            <a:srgbClr val="EC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544568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PLATFORM EMBED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892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D0D0D0"/>
                </a:solidFill>
                <a:latin typeface="Arial"/>
              </a:rPr>
              <a:t>Approval to deploy alongside the existing GitLab CI stack — shared infra, no new standalone service.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5440680"/>
            <a:ext cx="91440" cy="777240"/>
          </a:xfrm>
          <a:prstGeom prst="rect">
            <a:avLst/>
          </a:prstGeom>
          <a:solidFill>
            <a:srgbClr val="EC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5504688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EXECUTIVE SPONSORSHIP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8521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D0D0D0"/>
                </a:solidFill>
                <a:latin typeface="Arial"/>
              </a:rPr>
              <a:t>One CTO-office sponsor to unblock cross-BU alignment when we onboard domain #2.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D0D0D0"/>
                </a:solidFill>
                <a:latin typeface="Arial"/>
              </a:rPr>
              <a:t>What we'll deliver: one pilot domain with measurable MTTD reduction, a ready-to-scale platform for H2.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2608" y="201168"/>
            <a:ext cx="201168" cy="36576"/>
          </a:xfrm>
          <a:prstGeom prst="rect">
            <a:avLst/>
          </a:prstGeom>
          <a:solidFill>
            <a:srgbClr val="EC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2608" y="301752"/>
            <a:ext cx="201168" cy="36576"/>
          </a:xfrm>
          <a:prstGeom prst="rect">
            <a:avLst/>
          </a:prstGeom>
          <a:solidFill>
            <a:srgbClr val="EC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2608" y="402336"/>
            <a:ext cx="201168" cy="36576"/>
          </a:xfrm>
          <a:prstGeom prst="rect">
            <a:avLst/>
          </a:prstGeom>
          <a:solidFill>
            <a:srgbClr val="EC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97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00000"/>
                </a:solidFill>
                <a:latin typeface="Arial"/>
              </a:rPr>
              <a:t>UBS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0" y="22860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Arial"/>
              </a:rPr>
              <a:t>MAIN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18288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629400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Arial"/>
              </a:rPr>
              <a:t>Sherlock · Dependency Intelligence Platform · Internal · Draft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629400"/>
            <a:ext cx="2286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Arial"/>
              </a:rPr>
              <a:t>MAIN · 17 / 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86868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EC0016"/>
                </a:solidFill>
                <a:latin typeface="Arial"/>
              </a:rPr>
              <a:t>SUCCESS METRICS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09728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71717"/>
                </a:solidFill>
                <a:latin typeface="Arial"/>
              </a:rPr>
              <a:t>How we'll know it's working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874519"/>
            <a:ext cx="822960" cy="54864"/>
          </a:xfrm>
          <a:prstGeom prst="rect">
            <a:avLst/>
          </a:prstGeom>
          <a:solidFill>
            <a:srgbClr val="EC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0116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Arial"/>
              </a:rPr>
              <a:t>We measure the platform, not the people. Teams are informed, not policed.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651760"/>
            <a:ext cx="553212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651760"/>
            <a:ext cx="73152" cy="1691640"/>
          </a:xfrm>
          <a:prstGeom prst="rect">
            <a:avLst/>
          </a:prstGeom>
          <a:solidFill>
            <a:srgbClr val="EC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788920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71717"/>
                </a:solidFill>
                <a:latin typeface="Arial"/>
              </a:rPr>
              <a:t>MTTD for cross-app breaks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24612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EC0016"/>
                </a:solidFill>
                <a:latin typeface="Arial"/>
              </a:rPr>
              <a:t>BASELINE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3218688"/>
            <a:ext cx="3703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1–5 days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70332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EC0016"/>
                </a:solidFill>
                <a:latin typeface="Arial"/>
              </a:rPr>
              <a:t>TARGET (PILOT)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94560" y="3675888"/>
            <a:ext cx="3703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&lt; 1 hour (at MR time)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2651760"/>
            <a:ext cx="553212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2651760"/>
            <a:ext cx="73152" cy="169164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2788920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71717"/>
                </a:solidFill>
                <a:latin typeface="Arial"/>
              </a:rPr>
              <a:t>MR impact-comment engagement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324612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00000"/>
                </a:solidFill>
                <a:latin typeface="Arial"/>
              </a:rPr>
              <a:t>TARGET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3218688"/>
            <a:ext cx="3703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&gt;80% read by MR author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370332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00000"/>
                </a:solidFill>
                <a:latin typeface="Arial"/>
              </a:rPr>
              <a:t>SECONDARY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3675888"/>
            <a:ext cx="3703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&gt;60% elicit a coordination action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480560"/>
            <a:ext cx="553212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4480560"/>
            <a:ext cx="73152" cy="169164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4617720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71717"/>
                </a:solidFill>
                <a:latin typeface="Arial"/>
              </a:rPr>
              <a:t>Sticky-issue cycle time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507492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00000"/>
                </a:solidFill>
                <a:latin typeface="Arial"/>
              </a:rPr>
              <a:t>REPORT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94560" y="5047488"/>
            <a:ext cx="3703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Median `pending` → `fixed`, per team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553212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00000"/>
                </a:solidFill>
                <a:latin typeface="Arial"/>
              </a:rPr>
              <a:t>SLA TIER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94560" y="5504688"/>
            <a:ext cx="3703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Tier 0 apps: &lt;24h; Tier 1: &lt;72h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4480560"/>
            <a:ext cx="553212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17920" y="4480560"/>
            <a:ext cx="73152" cy="169164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4617720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71717"/>
                </a:solidFill>
                <a:latin typeface="Arial"/>
              </a:rPr>
              <a:t>Coverage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507492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00000"/>
                </a:solidFill>
                <a:latin typeface="Arial"/>
              </a:rPr>
              <a:t>TARGET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63840" y="5047488"/>
            <a:ext cx="3703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&gt;90% of pilot-domain active repos indexed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46520" y="553212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00000"/>
                </a:solidFill>
                <a:latin typeface="Arial"/>
              </a:rPr>
              <a:t>FRESHNESS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63840" y="5504688"/>
            <a:ext cx="3703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Graph reflects main within 24h of push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2608" y="201168"/>
            <a:ext cx="201168" cy="36576"/>
          </a:xfrm>
          <a:prstGeom prst="rect">
            <a:avLst/>
          </a:prstGeom>
          <a:solidFill>
            <a:srgbClr val="EC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2608" y="301752"/>
            <a:ext cx="201168" cy="36576"/>
          </a:xfrm>
          <a:prstGeom prst="rect">
            <a:avLst/>
          </a:prstGeom>
          <a:solidFill>
            <a:srgbClr val="EC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2608" y="402336"/>
            <a:ext cx="201168" cy="36576"/>
          </a:xfrm>
          <a:prstGeom prst="rect">
            <a:avLst/>
          </a:prstGeom>
          <a:solidFill>
            <a:srgbClr val="EC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97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00000"/>
                </a:solidFill>
                <a:latin typeface="Arial"/>
              </a:rPr>
              <a:t>UBS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0" y="22860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Arial"/>
              </a:rPr>
              <a:t>MAIN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18288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629400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Arial"/>
              </a:rPr>
              <a:t>Sherlock · Dependency Intelligence Platform · Internal · Draft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629400"/>
            <a:ext cx="2286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Arial"/>
              </a:rPr>
              <a:t>MAIN · 18 / 28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C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6459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C0016"/>
                </a:solidFill>
                <a:latin typeface="Arial"/>
              </a:rPr>
              <a:t>CLOSING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103120"/>
            <a:ext cx="10972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Every change has a blast radius.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200400"/>
            <a:ext cx="10972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D0D0D0"/>
                </a:solidFill>
                <a:latin typeface="Arial"/>
              </a:rPr>
              <a:t>Sherlock makes it visible — at the moment a developer hits Merge.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72000"/>
            <a:ext cx="1463040" cy="54864"/>
          </a:xfrm>
          <a:prstGeom prst="rect">
            <a:avLst/>
          </a:prstGeom>
          <a:solidFill>
            <a:srgbClr val="EC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7548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FFFFFF"/>
                </a:solidFill>
                <a:latin typeface="Arial"/>
              </a:rPr>
              <a:t>Thank you. Questions?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0936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Arial"/>
              </a:rPr>
              <a:t>Appendix follows — architecture, schema, security, roadmap details.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108960"/>
            <a:ext cx="1463040" cy="73152"/>
          </a:xfrm>
          <a:prstGeom prst="rect">
            <a:avLst/>
          </a:prstGeom>
          <a:solidFill>
            <a:srgbClr val="EC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C0016"/>
                </a:solidFill>
                <a:latin typeface="Arial"/>
              </a:rPr>
              <a:t>APPENDIX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918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71717"/>
                </a:solidFill>
                <a:latin typeface="Arial"/>
              </a:rPr>
              <a:t>Deeper dives for Q&amp;A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66666"/>
                </a:solidFill>
                <a:latin typeface="Arial"/>
              </a:rPr>
              <a:t>Architecture · Graph schema · GitLab integration · Security · LLM strategy · Positioning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2608" y="201168"/>
            <a:ext cx="201168" cy="36576"/>
          </a:xfrm>
          <a:prstGeom prst="rect">
            <a:avLst/>
          </a:prstGeom>
          <a:solidFill>
            <a:srgbClr val="EC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2608" y="301752"/>
            <a:ext cx="201168" cy="36576"/>
          </a:xfrm>
          <a:prstGeom prst="rect">
            <a:avLst/>
          </a:prstGeom>
          <a:solidFill>
            <a:srgbClr val="EC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2608" y="402336"/>
            <a:ext cx="201168" cy="36576"/>
          </a:xfrm>
          <a:prstGeom prst="rect">
            <a:avLst/>
          </a:prstGeom>
          <a:solidFill>
            <a:srgbClr val="EC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97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00000"/>
                </a:solidFill>
                <a:latin typeface="Arial"/>
              </a:rPr>
              <a:t>UBS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0" y="22860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Arial"/>
              </a:rPr>
              <a:t>APPENDIX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18288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629400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Arial"/>
              </a:rPr>
              <a:t>Sherlock · Dependency Intelligence Platform · Internal · Draft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629400"/>
            <a:ext cx="2286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Arial"/>
              </a:rPr>
              <a:t>APPENDIX · 20 / 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86868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EC0016"/>
                </a:solidFill>
                <a:latin typeface="Arial"/>
              </a:rPr>
              <a:t>APPENDIX · A1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09728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71717"/>
                </a:solidFill>
                <a:latin typeface="Arial"/>
              </a:rPr>
              <a:t>Architecture — deeper view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874519"/>
            <a:ext cx="822960" cy="54864"/>
          </a:xfrm>
          <a:prstGeom prst="rect">
            <a:avLst/>
          </a:prstGeom>
          <a:solidFill>
            <a:srgbClr val="EC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743200"/>
            <a:ext cx="1106424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100" b="1" i="0">
                <a:solidFill>
                  <a:srgbClr val="EC0016"/>
                </a:solidFill>
                <a:latin typeface="Arial"/>
              </a:rPr>
              <a:t>— </a:t>
            </a:r>
            <a:r>
              <a:rPr sz="1100" b="1" i="0">
                <a:solidFill>
                  <a:srgbClr val="171717"/>
                </a:solidFill>
                <a:latin typeface="Arial"/>
              </a:rPr>
              <a:t>Ingest (FastAPI). </a:t>
            </a:r>
            <a:r>
              <a:rPr sz="1100" b="0" i="0">
                <a:solidFill>
                  <a:srgbClr val="333333"/>
                </a:solidFill>
                <a:latin typeface="Arial"/>
              </a:rPr>
              <a:t>  Webhook receiver with marker-idempotent MR-note and issue upsert; manual /scan-all for full-estate refresh.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100" b="1" i="0">
                <a:solidFill>
                  <a:srgbClr val="EC0016"/>
                </a:solidFill>
                <a:latin typeface="Arial"/>
              </a:rPr>
              <a:t>— </a:t>
            </a:r>
            <a:r>
              <a:rPr sz="1100" b="1" i="0">
                <a:solidFill>
                  <a:srgbClr val="171717"/>
                </a:solidFill>
                <a:latin typeface="Arial"/>
              </a:rPr>
              <a:t>Analyzers. </a:t>
            </a:r>
            <a:r>
              <a:rPr sz="1100" b="0" i="0">
                <a:solidFill>
                  <a:srgbClr val="333333"/>
                </a:solidFill>
                <a:latin typeface="Arial"/>
              </a:rPr>
              <a:t>  Regex + language-aware heuristics: Java (FileInputStream, RestClient.uri, Flyway YAML), Python (httpx, psycopg, pathlib open modes), Node (axios / fs), COBOL (SELECT/ASSIGN + OPEN verbs), OpenAPI / AsyncAPI / Maven-pom / requirements.txt / package.json.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100" b="1" i="0">
                <a:solidFill>
                  <a:srgbClr val="EC0016"/>
                </a:solidFill>
                <a:latin typeface="Arial"/>
              </a:rPr>
              <a:t>— </a:t>
            </a:r>
            <a:r>
              <a:rPr sz="1100" b="1" i="0">
                <a:solidFill>
                  <a:srgbClr val="171717"/>
                </a:solidFill>
                <a:latin typeface="Arial"/>
              </a:rPr>
              <a:t>Graph DB. </a:t>
            </a:r>
            <a:r>
              <a:rPr sz="1100" b="0" i="0">
                <a:solidFill>
                  <a:srgbClr val="333333"/>
                </a:solidFill>
                <a:latin typeface="Arial"/>
              </a:rPr>
              <a:t>  Neo4j Community 5.x. Nodes indexed by natural keys. Re-scan is idempotent per app — outgoing edges replaced atomically.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100" b="1" i="0">
                <a:solidFill>
                  <a:srgbClr val="EC0016"/>
                </a:solidFill>
                <a:latin typeface="Arial"/>
              </a:rPr>
              <a:t>— </a:t>
            </a:r>
            <a:r>
              <a:rPr sz="1100" b="1" i="0">
                <a:solidFill>
                  <a:srgbClr val="171717"/>
                </a:solidFill>
                <a:latin typeface="Arial"/>
              </a:rPr>
              <a:t>Impact Engine. </a:t>
            </a:r>
            <a:r>
              <a:rPr sz="1100" b="0" i="0">
                <a:solidFill>
                  <a:srgbClr val="333333"/>
                </a:solidFill>
                <a:latin typeface="Arial"/>
              </a:rPr>
              <a:t>  Pure Cypher. Diff two AnalysisResult snapshots; route by kind; enrich impacted apps via CMDB.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100" b="1" i="0">
                <a:solidFill>
                  <a:srgbClr val="EC0016"/>
                </a:solidFill>
                <a:latin typeface="Arial"/>
              </a:rPr>
              <a:t>— </a:t>
            </a:r>
            <a:r>
              <a:rPr sz="1100" b="1" i="0">
                <a:solidFill>
                  <a:srgbClr val="171717"/>
                </a:solidFill>
                <a:latin typeface="Arial"/>
              </a:rPr>
              <a:t>Notifier. </a:t>
            </a:r>
            <a:r>
              <a:rPr sz="1100" b="0" i="0">
                <a:solidFill>
                  <a:srgbClr val="333333"/>
                </a:solidFill>
                <a:latin typeface="Arial"/>
              </a:rPr>
              <a:t>  GitLab API: merge-request notes (marker-based upsert), project issues (label::pending → label::fixed), application settings (allow-local-requests).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100" b="1" i="0">
                <a:solidFill>
                  <a:srgbClr val="EC0016"/>
                </a:solidFill>
                <a:latin typeface="Arial"/>
              </a:rPr>
              <a:t>— </a:t>
            </a:r>
            <a:r>
              <a:rPr sz="1100" b="1" i="0">
                <a:solidFill>
                  <a:srgbClr val="171717"/>
                </a:solidFill>
                <a:latin typeface="Arial"/>
              </a:rPr>
              <a:t>Canvas. </a:t>
            </a:r>
            <a:r>
              <a:rPr sz="1100" b="0" i="0">
                <a:solidFill>
                  <a:srgbClr val="333333"/>
                </a:solidFill>
                <a:latin typeface="Arial"/>
              </a:rPr>
              <a:t>  Cytoscape.js single-page. Dagre rankDir=BT (upstream top, downstream bottom). App view + Contract view.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2608" y="201168"/>
            <a:ext cx="201168" cy="36576"/>
          </a:xfrm>
          <a:prstGeom prst="rect">
            <a:avLst/>
          </a:prstGeom>
          <a:solidFill>
            <a:srgbClr val="EC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2608" y="301752"/>
            <a:ext cx="201168" cy="36576"/>
          </a:xfrm>
          <a:prstGeom prst="rect">
            <a:avLst/>
          </a:prstGeom>
          <a:solidFill>
            <a:srgbClr val="EC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2608" y="402336"/>
            <a:ext cx="201168" cy="36576"/>
          </a:xfrm>
          <a:prstGeom prst="rect">
            <a:avLst/>
          </a:prstGeom>
          <a:solidFill>
            <a:srgbClr val="EC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97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00000"/>
                </a:solidFill>
                <a:latin typeface="Arial"/>
              </a:rPr>
              <a:t>UBS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0" y="22860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Arial"/>
              </a:rPr>
              <a:t>APPENDIX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18288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629400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Arial"/>
              </a:rPr>
              <a:t>Sherlock · Dependency Intelligence Platform · Internal · Draft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629400"/>
            <a:ext cx="2286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Arial"/>
              </a:rPr>
              <a:t>APPENDIX · 21 / 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86868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EC0016"/>
                </a:solidFill>
                <a:latin typeface="Arial"/>
              </a:rPr>
              <a:t>APPENDIX · A2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09728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71717"/>
                </a:solidFill>
                <a:latin typeface="Arial"/>
              </a:rPr>
              <a:t>Detection coverage — detail &amp; gaps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874519"/>
            <a:ext cx="822960" cy="54864"/>
          </a:xfrm>
          <a:prstGeom prst="rect">
            <a:avLst/>
          </a:prstGeom>
          <a:solidFill>
            <a:srgbClr val="EC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651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C0016"/>
                </a:solidFill>
                <a:latin typeface="Arial"/>
              </a:rPr>
              <a:t>Covered today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017520"/>
            <a:ext cx="1106424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1" i="0">
                <a:solidFill>
                  <a:srgbClr val="EC0016"/>
                </a:solidFill>
                <a:latin typeface="Arial"/>
              </a:rPr>
              <a:t>— </a:t>
            </a:r>
            <a:r>
              <a:rPr sz="1100" b="0" i="0">
                <a:solidFill>
                  <a:srgbClr val="333333"/>
                </a:solidFill>
                <a:latin typeface="Arial"/>
              </a:rPr>
              <a:t>REST endpoints exposed (OpenAPI) + called — regex AND tree-sitter AST for Java · Python · JS/TS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1" i="0">
                <a:solidFill>
                  <a:srgbClr val="EC0016"/>
                </a:solidFill>
                <a:latin typeface="Arial"/>
              </a:rPr>
              <a:t>— </a:t>
            </a:r>
            <a:r>
              <a:rPr sz="1100" b="0" i="0">
                <a:solidFill>
                  <a:srgbClr val="333333"/>
                </a:solidFill>
                <a:latin typeface="Arial"/>
              </a:rPr>
              <a:t>Required-vs-optional payload diffing — required-field changes flagged BREAKING, optional additions land as INFO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1" i="0">
                <a:solidFill>
                  <a:srgbClr val="EC0016"/>
                </a:solidFill>
                <a:latin typeface="Arial"/>
              </a:rPr>
              <a:t>— </a:t>
            </a:r>
            <a:r>
              <a:rPr sz="1100" b="0" i="0">
                <a:solidFill>
                  <a:srgbClr val="333333"/>
                </a:solidFill>
                <a:latin typeface="Arial"/>
              </a:rPr>
              <a:t>Kafka topics published/consumed (AsyncAPI + in-code KafkaTemplate / confluent-kafka), payload precision identical to REST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1" i="0">
                <a:solidFill>
                  <a:srgbClr val="EC0016"/>
                </a:solidFill>
                <a:latin typeface="Arial"/>
              </a:rPr>
              <a:t>— </a:t>
            </a:r>
            <a:r>
              <a:rPr sz="1100" b="0" i="0">
                <a:solidFill>
                  <a:srgbClr val="333333"/>
                </a:solidFill>
                <a:latin typeface="Arial"/>
              </a:rPr>
              <a:t>Postgres schemas / tables — DDL (Flyway) + DML via SQL-in-code heuristics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1" i="0">
                <a:solidFill>
                  <a:srgbClr val="EC0016"/>
                </a:solidFill>
                <a:latin typeface="Arial"/>
              </a:rPr>
              <a:t>— </a:t>
            </a:r>
            <a:r>
              <a:rPr sz="1100" b="0" i="0">
                <a:solidFill>
                  <a:srgbClr val="333333"/>
                </a:solidFill>
                <a:latin typeface="Arial"/>
              </a:rPr>
              <a:t>Shared file feeds on /shared/, /mnt/feeds/, /inbound/, /outbound/ — paired COBOL SELECT/ASSIGN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1" i="0">
                <a:solidFill>
                  <a:srgbClr val="EC0016"/>
                </a:solidFill>
                <a:latin typeface="Arial"/>
              </a:rPr>
              <a:t>— </a:t>
            </a:r>
            <a:r>
              <a:rPr sz="1100" b="0" i="0">
                <a:solidFill>
                  <a:srgbClr val="333333"/>
                </a:solidFill>
                <a:latin typeface="Arial"/>
              </a:rPr>
              <a:t>Shared libraries via pom.xml / requirements.txt / pyproject / package.json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1" i="0">
                <a:solidFill>
                  <a:srgbClr val="EC0016"/>
                </a:solidFill>
                <a:latin typeface="Arial"/>
              </a:rPr>
              <a:t>— </a:t>
            </a:r>
            <a:r>
              <a:rPr sz="1100" b="0" i="0">
                <a:solidFill>
                  <a:srgbClr val="333333"/>
                </a:solidFill>
                <a:latin typeface="Arial"/>
              </a:rPr>
              <a:t>Hybrid platform tagging — CMDB-driven `platform` field merged into the graph; cross-boundary callouts at MR 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7548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C0016"/>
                </a:solidFill>
                <a:latin typeface="Arial"/>
              </a:rPr>
              <a:t>Known gaps (roadmap)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1206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1" i="0">
                <a:solidFill>
                  <a:srgbClr val="EC0016"/>
                </a:solidFill>
                <a:latin typeface="Arial"/>
              </a:rPr>
              <a:t>— </a:t>
            </a:r>
            <a:r>
              <a:rPr sz="1100" b="0" i="0">
                <a:solidFill>
                  <a:srgbClr val="333333"/>
                </a:solidFill>
                <a:latin typeface="Arial"/>
              </a:rPr>
              <a:t>gRPC contracts (.proto) and GraphQL federation schemas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1" i="0">
                <a:solidFill>
                  <a:srgbClr val="EC0016"/>
                </a:solidFill>
                <a:latin typeface="Arial"/>
              </a:rPr>
              <a:t>— </a:t>
            </a:r>
            <a:r>
              <a:rPr sz="1100" b="0" i="0">
                <a:solidFill>
                  <a:srgbClr val="333333"/>
                </a:solidFill>
                <a:latin typeface="Arial"/>
              </a:rPr>
              <a:t>SFTP / FTP transfer idioms and explicit file-watcher patterns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1" i="0">
                <a:solidFill>
                  <a:srgbClr val="EC0016"/>
                </a:solidFill>
                <a:latin typeface="Arial"/>
              </a:rPr>
              <a:t>— </a:t>
            </a:r>
            <a:r>
              <a:rPr sz="1100" b="0" i="0">
                <a:solidFill>
                  <a:srgbClr val="333333"/>
                </a:solidFill>
                <a:latin typeface="Arial"/>
              </a:rPr>
              <a:t>In-house message-bus libraries that don't emit AsyncAPI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1" i="0">
                <a:solidFill>
                  <a:srgbClr val="EC0016"/>
                </a:solidFill>
                <a:latin typeface="Arial"/>
              </a:rPr>
              <a:t>— </a:t>
            </a:r>
            <a:r>
              <a:rPr sz="1100" b="0" i="0">
                <a:solidFill>
                  <a:srgbClr val="333333"/>
                </a:solidFill>
                <a:latin typeface="Arial"/>
              </a:rPr>
              <a:t>Batch-job schedulers (Control-M) — currently only detects schedule annotations in code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1" i="0">
                <a:solidFill>
                  <a:srgbClr val="EC0016"/>
                </a:solidFill>
                <a:latin typeface="Arial"/>
              </a:rPr>
              <a:t>— </a:t>
            </a:r>
            <a:r>
              <a:rPr sz="1100" b="0" i="0">
                <a:solidFill>
                  <a:srgbClr val="333333"/>
                </a:solidFill>
                <a:latin typeface="Arial"/>
              </a:rPr>
              <a:t>Polyglot gRPC code-gen where the contract is generated, not committed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2608" y="201168"/>
            <a:ext cx="201168" cy="36576"/>
          </a:xfrm>
          <a:prstGeom prst="rect">
            <a:avLst/>
          </a:prstGeom>
          <a:solidFill>
            <a:srgbClr val="EC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2608" y="301752"/>
            <a:ext cx="201168" cy="36576"/>
          </a:xfrm>
          <a:prstGeom prst="rect">
            <a:avLst/>
          </a:prstGeom>
          <a:solidFill>
            <a:srgbClr val="EC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2608" y="402336"/>
            <a:ext cx="201168" cy="36576"/>
          </a:xfrm>
          <a:prstGeom prst="rect">
            <a:avLst/>
          </a:prstGeom>
          <a:solidFill>
            <a:srgbClr val="EC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97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00000"/>
                </a:solidFill>
                <a:latin typeface="Arial"/>
              </a:rPr>
              <a:t>UBS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0" y="22860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Arial"/>
              </a:rPr>
              <a:t>APPENDIX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18288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629400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Arial"/>
              </a:rPr>
              <a:t>Sherlock · Dependency Intelligence Platform · Internal · Draft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629400"/>
            <a:ext cx="2286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Arial"/>
              </a:rPr>
              <a:t>APPENDIX · 22 / 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86868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EC0016"/>
                </a:solidFill>
                <a:latin typeface="Arial"/>
              </a:rPr>
              <a:t>APPENDIX · A3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09728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71717"/>
                </a:solidFill>
                <a:latin typeface="Arial"/>
              </a:rPr>
              <a:t>Graph schema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874519"/>
            <a:ext cx="822960" cy="54864"/>
          </a:xfrm>
          <a:prstGeom prst="rect">
            <a:avLst/>
          </a:prstGeom>
          <a:solidFill>
            <a:srgbClr val="EC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651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C0016"/>
                </a:solidFill>
                <a:latin typeface="Arial"/>
              </a:rPr>
              <a:t>Node types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017520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onsolas"/>
              </a:rPr>
              <a:t>Application   ·   Endpoint   ·   Topic   ·   DBSchema   ·   DBTable   ·   FileFeed   ·   Library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9319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C0016"/>
                </a:solidFill>
                <a:latin typeface="Arial"/>
              </a:rPr>
              <a:t>Edge types (12 total)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297680"/>
            <a:ext cx="1106424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100" b="1" i="0">
                <a:solidFill>
                  <a:srgbClr val="EC0016"/>
                </a:solidFill>
                <a:latin typeface="Arial"/>
              </a:rPr>
              <a:t>— </a:t>
            </a:r>
            <a:r>
              <a:rPr sz="1100" b="0" i="0">
                <a:solidFill>
                  <a:srgbClr val="333333"/>
                </a:solidFill>
                <a:latin typeface="Arial"/>
              </a:rPr>
              <a:t>EXPOSES (App→Endpoint)   ·   CALLS (App→Endpoint)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100" b="1" i="0">
                <a:solidFill>
                  <a:srgbClr val="EC0016"/>
                </a:solidFill>
                <a:latin typeface="Arial"/>
              </a:rPr>
              <a:t>— </a:t>
            </a:r>
            <a:r>
              <a:rPr sz="1100" b="0" i="0">
                <a:solidFill>
                  <a:srgbClr val="333333"/>
                </a:solidFill>
                <a:latin typeface="Arial"/>
              </a:rPr>
              <a:t>PUBLISHES (App→Topic)   ·   CONSUMES (App→Topic)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100" b="1" i="0">
                <a:solidFill>
                  <a:srgbClr val="EC0016"/>
                </a:solidFill>
                <a:latin typeface="Arial"/>
              </a:rPr>
              <a:t>— </a:t>
            </a:r>
            <a:r>
              <a:rPr sz="1100" b="0" i="0">
                <a:solidFill>
                  <a:srgbClr val="333333"/>
                </a:solidFill>
                <a:latin typeface="Arial"/>
              </a:rPr>
              <a:t>OWNS_SCHEMA (App→DBSchema)   ·   CONTAINS_TABLE (DBSchema→DBTable)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100" b="1" i="0">
                <a:solidFill>
                  <a:srgbClr val="EC0016"/>
                </a:solidFill>
                <a:latin typeface="Arial"/>
              </a:rPr>
              <a:t>— </a:t>
            </a:r>
            <a:r>
              <a:rPr sz="1100" b="0" i="0">
                <a:solidFill>
                  <a:srgbClr val="333333"/>
                </a:solidFill>
                <a:latin typeface="Arial"/>
              </a:rPr>
              <a:t>READS_TABLE / WRITES_TABLE (App→DBTable)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100" b="1" i="0">
                <a:solidFill>
                  <a:srgbClr val="EC0016"/>
                </a:solidFill>
                <a:latin typeface="Arial"/>
              </a:rPr>
              <a:t>— </a:t>
            </a:r>
            <a:r>
              <a:rPr sz="1100" b="0" i="0">
                <a:solidFill>
                  <a:srgbClr val="333333"/>
                </a:solidFill>
                <a:latin typeface="Arial"/>
              </a:rPr>
              <a:t>READS_FILE / WRITES_FILE (App→FileFeed)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100" b="1" i="0">
                <a:solidFill>
                  <a:srgbClr val="EC0016"/>
                </a:solidFill>
                <a:latin typeface="Arial"/>
              </a:rPr>
              <a:t>— </a:t>
            </a:r>
            <a:r>
              <a:rPr sz="1100" b="0" i="0">
                <a:solidFill>
                  <a:srgbClr val="333333"/>
                </a:solidFill>
                <a:latin typeface="Arial"/>
              </a:rPr>
              <a:t>DEPENDS_ON_LIB (App→Library)   ·   PUBLISHES_LIB (App→Library)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2608" y="201168"/>
            <a:ext cx="201168" cy="36576"/>
          </a:xfrm>
          <a:prstGeom prst="rect">
            <a:avLst/>
          </a:prstGeom>
          <a:solidFill>
            <a:srgbClr val="EC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2608" y="301752"/>
            <a:ext cx="201168" cy="36576"/>
          </a:xfrm>
          <a:prstGeom prst="rect">
            <a:avLst/>
          </a:prstGeom>
          <a:solidFill>
            <a:srgbClr val="EC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2608" y="402336"/>
            <a:ext cx="201168" cy="36576"/>
          </a:xfrm>
          <a:prstGeom prst="rect">
            <a:avLst/>
          </a:prstGeom>
          <a:solidFill>
            <a:srgbClr val="EC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97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00000"/>
                </a:solidFill>
                <a:latin typeface="Arial"/>
              </a:rPr>
              <a:t>UBS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0" y="22860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Arial"/>
              </a:rPr>
              <a:t>APPENDIX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18288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629400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Arial"/>
              </a:rPr>
              <a:t>Sherlock · Dependency Intelligence Platform · Internal · Draft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629400"/>
            <a:ext cx="2286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Arial"/>
              </a:rPr>
              <a:t>APPENDIX · 23 / 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86868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EC0016"/>
                </a:solidFill>
                <a:latin typeface="Arial"/>
              </a:rPr>
              <a:t>APPENDIX · A4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09728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71717"/>
                </a:solidFill>
                <a:latin typeface="Arial"/>
              </a:rPr>
              <a:t>Security, data residency, PII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874519"/>
            <a:ext cx="822960" cy="54864"/>
          </a:xfrm>
          <a:prstGeom prst="rect">
            <a:avLst/>
          </a:prstGeom>
          <a:solidFill>
            <a:srgbClr val="EC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743200"/>
            <a:ext cx="1106424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200" b="1" i="0">
                <a:solidFill>
                  <a:srgbClr val="EC0016"/>
                </a:solidFill>
                <a:latin typeface="Arial"/>
              </a:rPr>
              <a:t>— </a:t>
            </a:r>
            <a:r>
              <a:rPr sz="1200" b="1" i="0">
                <a:solidFill>
                  <a:srgbClr val="171717"/>
                </a:solidFill>
                <a:latin typeface="Arial"/>
              </a:rPr>
              <a:t>No PII in the graph. </a:t>
            </a:r>
            <a:r>
              <a:rPr sz="1200" b="0" i="0">
                <a:solidFill>
                  <a:srgbClr val="333333"/>
                </a:solidFill>
                <a:latin typeface="Arial"/>
              </a:rPr>
              <a:t>  Sherlock reads source code — not runtime data. The graph contains app names, endpoint paths, topic names, table FQNs, file paths, team names.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200" b="1" i="0">
                <a:solidFill>
                  <a:srgbClr val="EC0016"/>
                </a:solidFill>
                <a:latin typeface="Arial"/>
              </a:rPr>
              <a:t>— </a:t>
            </a:r>
            <a:r>
              <a:rPr sz="1200" b="1" i="0">
                <a:solidFill>
                  <a:srgbClr val="171717"/>
                </a:solidFill>
                <a:latin typeface="Arial"/>
              </a:rPr>
              <a:t>All in-tenant. </a:t>
            </a:r>
            <a:r>
              <a:rPr sz="1200" b="0" i="0">
                <a:solidFill>
                  <a:srgbClr val="333333"/>
                </a:solidFill>
                <a:latin typeface="Arial"/>
              </a:rPr>
              <a:t>  Graph DB, analyzers, and UI run inside the UBS perimeter. No code leaves.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200" b="1" i="0">
                <a:solidFill>
                  <a:srgbClr val="EC0016"/>
                </a:solidFill>
                <a:latin typeface="Arial"/>
              </a:rPr>
              <a:t>— </a:t>
            </a:r>
            <a:r>
              <a:rPr sz="1200" b="1" i="0">
                <a:solidFill>
                  <a:srgbClr val="171717"/>
                </a:solidFill>
                <a:latin typeface="Arial"/>
              </a:rPr>
              <a:t>Phase-2 LLM: in-tenant only. </a:t>
            </a:r>
            <a:r>
              <a:rPr sz="1200" b="0" i="0">
                <a:solidFill>
                  <a:srgbClr val="333333"/>
                </a:solidFill>
                <a:latin typeface="Arial"/>
              </a:rPr>
              <a:t>  Auto-doc uses Azure OpenAI in our own tenant (GPT-5.1) — no external API calls. Local dev may use a different provider (abstraction layer).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200" b="1" i="0">
                <a:solidFill>
                  <a:srgbClr val="EC0016"/>
                </a:solidFill>
                <a:latin typeface="Arial"/>
              </a:rPr>
              <a:t>— </a:t>
            </a:r>
            <a:r>
              <a:rPr sz="1200" b="1" i="0">
                <a:solidFill>
                  <a:srgbClr val="171717"/>
                </a:solidFill>
                <a:latin typeface="Arial"/>
              </a:rPr>
              <a:t>Access control on canvas (future). </a:t>
            </a:r>
            <a:r>
              <a:rPr sz="1200" b="0" i="0">
                <a:solidFill>
                  <a:srgbClr val="333333"/>
                </a:solidFill>
                <a:latin typeface="Arial"/>
              </a:rPr>
              <a:t>  Canvas respects GitLab project visibility. Team/domain filtering before public rollout.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200" b="1" i="0">
                <a:solidFill>
                  <a:srgbClr val="EC0016"/>
                </a:solidFill>
                <a:latin typeface="Arial"/>
              </a:rPr>
              <a:t>— </a:t>
            </a:r>
            <a:r>
              <a:rPr sz="1200" b="1" i="0">
                <a:solidFill>
                  <a:srgbClr val="171717"/>
                </a:solidFill>
                <a:latin typeface="Arial"/>
              </a:rPr>
              <a:t>Supply chain. </a:t>
            </a:r>
            <a:r>
              <a:rPr sz="1200" b="0" i="0">
                <a:solidFill>
                  <a:srgbClr val="333333"/>
                </a:solidFill>
                <a:latin typeface="Arial"/>
              </a:rPr>
              <a:t>  Open-source deps pinned; Neo4j Community; no commercial licenses required for the platform itself.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200" b="1" i="0">
                <a:solidFill>
                  <a:srgbClr val="EC0016"/>
                </a:solidFill>
                <a:latin typeface="Arial"/>
              </a:rPr>
              <a:t>— </a:t>
            </a:r>
            <a:r>
              <a:rPr sz="1200" b="1" i="0">
                <a:solidFill>
                  <a:srgbClr val="171717"/>
                </a:solidFill>
                <a:latin typeface="Arial"/>
              </a:rPr>
              <a:t>Auditability. </a:t>
            </a:r>
            <a:r>
              <a:rPr sz="1200" b="0" i="0">
                <a:solidFill>
                  <a:srgbClr val="333333"/>
                </a:solidFill>
                <a:latin typeface="Arial"/>
              </a:rPr>
              <a:t>  Every MR comment and sticky-issue action logged; commit SHAs stamped on each Application node.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2608" y="201168"/>
            <a:ext cx="201168" cy="36576"/>
          </a:xfrm>
          <a:prstGeom prst="rect">
            <a:avLst/>
          </a:prstGeom>
          <a:solidFill>
            <a:srgbClr val="EC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2608" y="301752"/>
            <a:ext cx="201168" cy="36576"/>
          </a:xfrm>
          <a:prstGeom prst="rect">
            <a:avLst/>
          </a:prstGeom>
          <a:solidFill>
            <a:srgbClr val="EC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2608" y="402336"/>
            <a:ext cx="201168" cy="36576"/>
          </a:xfrm>
          <a:prstGeom prst="rect">
            <a:avLst/>
          </a:prstGeom>
          <a:solidFill>
            <a:srgbClr val="EC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97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00000"/>
                </a:solidFill>
                <a:latin typeface="Arial"/>
              </a:rPr>
              <a:t>UBS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0" y="22860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Arial"/>
              </a:rPr>
              <a:t>APPENDIX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18288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629400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Arial"/>
              </a:rPr>
              <a:t>Sherlock · Dependency Intelligence Platform · Internal · Draft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629400"/>
            <a:ext cx="2286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Arial"/>
              </a:rPr>
              <a:t>APPENDIX · 24 / 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86868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EC0016"/>
                </a:solidFill>
                <a:latin typeface="Arial"/>
              </a:rPr>
              <a:t>APPENDIX · A5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09728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71717"/>
                </a:solidFill>
                <a:latin typeface="Arial"/>
              </a:rPr>
              <a:t>H2 — Auto-documentation with LLM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874519"/>
            <a:ext cx="822960" cy="54864"/>
          </a:xfrm>
          <a:prstGeom prst="rect">
            <a:avLst/>
          </a:prstGeom>
          <a:solidFill>
            <a:srgbClr val="EC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0116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Arial"/>
              </a:rPr>
              <a:t>Not in H1 pilot scope. Activated in month 4 subject to pilot outcome.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743200"/>
            <a:ext cx="1106424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200" b="1" i="0">
                <a:solidFill>
                  <a:srgbClr val="EC0016"/>
                </a:solidFill>
                <a:latin typeface="Arial"/>
              </a:rPr>
              <a:t>— </a:t>
            </a:r>
            <a:r>
              <a:rPr sz="1200" b="1" i="0">
                <a:solidFill>
                  <a:srgbClr val="171717"/>
                </a:solidFill>
                <a:latin typeface="Arial"/>
              </a:rPr>
              <a:t>Goal. </a:t>
            </a:r>
            <a:r>
              <a:rPr sz="1200" b="0" i="0">
                <a:solidFill>
                  <a:srgbClr val="333333"/>
                </a:solidFill>
                <a:latin typeface="Arial"/>
              </a:rPr>
              <a:t>  Generate README-level docs for legacy code — especially COBOL and long-tenured Java — pushed as MRs for human review. Never direct-commit.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200" b="1" i="0">
                <a:solidFill>
                  <a:srgbClr val="EC0016"/>
                </a:solidFill>
                <a:latin typeface="Arial"/>
              </a:rPr>
              <a:t>— </a:t>
            </a:r>
            <a:r>
              <a:rPr sz="1200" b="1" i="0">
                <a:solidFill>
                  <a:srgbClr val="171717"/>
                </a:solidFill>
                <a:latin typeface="Arial"/>
              </a:rPr>
              <a:t>Triggers. </a:t>
            </a:r>
            <a:r>
              <a:rPr sz="1200" b="0" i="0">
                <a:solidFill>
                  <a:srgbClr val="333333"/>
                </a:solidFill>
                <a:latin typeface="Arial"/>
              </a:rPr>
              <a:t>  Scheduled per-repo, prioritized by freshness (files untouched &gt;12 mo) and docstring density (low = higher priority).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200" b="1" i="0">
                <a:solidFill>
                  <a:srgbClr val="EC0016"/>
                </a:solidFill>
                <a:latin typeface="Arial"/>
              </a:rPr>
              <a:t>— </a:t>
            </a:r>
            <a:r>
              <a:rPr sz="1200" b="1" i="0">
                <a:solidFill>
                  <a:srgbClr val="171717"/>
                </a:solidFill>
                <a:latin typeface="Arial"/>
              </a:rPr>
              <a:t>Provider. </a:t>
            </a:r>
            <a:r>
              <a:rPr sz="1200" b="0" i="0">
                <a:solidFill>
                  <a:srgbClr val="333333"/>
                </a:solidFill>
                <a:latin typeface="Arial"/>
              </a:rPr>
              <a:t>  Pluggable. Enterprise: Azure OpenAI GPT-5.1 in UBS tenant. Local dev: configurable.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200" b="1" i="0">
                <a:solidFill>
                  <a:srgbClr val="EC0016"/>
                </a:solidFill>
                <a:latin typeface="Arial"/>
              </a:rPr>
              <a:t>— </a:t>
            </a:r>
            <a:r>
              <a:rPr sz="1200" b="1" i="0">
                <a:solidFill>
                  <a:srgbClr val="171717"/>
                </a:solidFill>
                <a:latin typeface="Arial"/>
              </a:rPr>
              <a:t>Cost control. </a:t>
            </a:r>
            <a:r>
              <a:rPr sz="1200" b="0" i="0">
                <a:solidFill>
                  <a:srgbClr val="333333"/>
                </a:solidFill>
                <a:latin typeface="Arial"/>
              </a:rPr>
              <a:t>  Hierarchical summarization (function → file → module → service). Aggressive prompt caching. Cost per doc should be &lt; one engineer-hour.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200" b="1" i="0">
                <a:solidFill>
                  <a:srgbClr val="EC0016"/>
                </a:solidFill>
                <a:latin typeface="Arial"/>
              </a:rPr>
              <a:t>— </a:t>
            </a:r>
            <a:r>
              <a:rPr sz="1200" b="1" i="0">
                <a:solidFill>
                  <a:srgbClr val="171717"/>
                </a:solidFill>
                <a:latin typeface="Arial"/>
              </a:rPr>
              <a:t>Quality gate. </a:t>
            </a:r>
            <a:r>
              <a:rPr sz="1200" b="0" i="0">
                <a:solidFill>
                  <a:srgbClr val="333333"/>
                </a:solidFill>
                <a:latin typeface="Arial"/>
              </a:rPr>
              <a:t>  Generated docs land as draft MR; owning team reviews; merge is a human decision.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200" b="1" i="0">
                <a:solidFill>
                  <a:srgbClr val="EC0016"/>
                </a:solidFill>
                <a:latin typeface="Arial"/>
              </a:rPr>
              <a:t>— </a:t>
            </a:r>
            <a:r>
              <a:rPr sz="1200" b="1" i="0">
                <a:solidFill>
                  <a:srgbClr val="171717"/>
                </a:solidFill>
                <a:latin typeface="Arial"/>
              </a:rPr>
              <a:t>Audit. </a:t>
            </a:r>
            <a:r>
              <a:rPr sz="1200" b="0" i="0">
                <a:solidFill>
                  <a:srgbClr val="333333"/>
                </a:solidFill>
                <a:latin typeface="Arial"/>
              </a:rPr>
              <a:t>  Every generated doc tagged in Git with provider + model + prompt hash.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2608" y="201168"/>
            <a:ext cx="201168" cy="36576"/>
          </a:xfrm>
          <a:prstGeom prst="rect">
            <a:avLst/>
          </a:prstGeom>
          <a:solidFill>
            <a:srgbClr val="EC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2608" y="301752"/>
            <a:ext cx="201168" cy="36576"/>
          </a:xfrm>
          <a:prstGeom prst="rect">
            <a:avLst/>
          </a:prstGeom>
          <a:solidFill>
            <a:srgbClr val="EC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2608" y="402336"/>
            <a:ext cx="201168" cy="36576"/>
          </a:xfrm>
          <a:prstGeom prst="rect">
            <a:avLst/>
          </a:prstGeom>
          <a:solidFill>
            <a:srgbClr val="EC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97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00000"/>
                </a:solidFill>
                <a:latin typeface="Arial"/>
              </a:rPr>
              <a:t>UBS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0" y="22860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Arial"/>
              </a:rPr>
              <a:t>APPENDIX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18288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629400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Arial"/>
              </a:rPr>
              <a:t>Sherlock · Dependency Intelligence Platform · Internal · Draft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629400"/>
            <a:ext cx="2286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Arial"/>
              </a:rPr>
              <a:t>APPENDIX · 25 / 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86868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EC0016"/>
                </a:solidFill>
                <a:latin typeface="Arial"/>
              </a:rPr>
              <a:t>APPENDIX · A6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09728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71717"/>
                </a:solidFill>
                <a:latin typeface="Arial"/>
              </a:rPr>
              <a:t>Integration futures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874519"/>
            <a:ext cx="822960" cy="54864"/>
          </a:xfrm>
          <a:prstGeom prst="rect">
            <a:avLst/>
          </a:prstGeom>
          <a:solidFill>
            <a:srgbClr val="EC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743200"/>
            <a:ext cx="1106424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100" b="1" i="0">
                <a:solidFill>
                  <a:srgbClr val="EC0016"/>
                </a:solidFill>
                <a:latin typeface="Arial"/>
              </a:rPr>
              <a:t>— </a:t>
            </a:r>
            <a:r>
              <a:rPr sz="1100" b="1" i="0">
                <a:solidFill>
                  <a:srgbClr val="171717"/>
                </a:solidFill>
                <a:latin typeface="Arial"/>
              </a:rPr>
              <a:t>CMDB (read-only). </a:t>
            </a:r>
            <a:r>
              <a:rPr sz="1100" b="0" i="0">
                <a:solidFill>
                  <a:srgbClr val="333333"/>
                </a:solidFill>
                <a:latin typeface="Arial"/>
              </a:rPr>
              <a:t>  Pull team / tier / on-call / platform. Source of truth for ownership. Sherlock writes nothing back to CMDB.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100" b="1" i="0">
                <a:solidFill>
                  <a:srgbClr val="EC0016"/>
                </a:solidFill>
                <a:latin typeface="Arial"/>
              </a:rPr>
              <a:t>— </a:t>
            </a:r>
            <a:r>
              <a:rPr sz="1100" b="1" i="0">
                <a:solidFill>
                  <a:srgbClr val="171717"/>
                </a:solidFill>
                <a:latin typeface="Arial"/>
              </a:rPr>
              <a:t>Backstage. </a:t>
            </a:r>
            <a:r>
              <a:rPr sz="1100" b="0" i="0">
                <a:solidFill>
                  <a:srgbClr val="333333"/>
                </a:solidFill>
                <a:latin typeface="Arial"/>
              </a:rPr>
              <a:t>  Expose Sherlock's app graph as a Backstage plugin — embeds the canvas in the existing dev-portal.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100" b="1" i="0">
                <a:solidFill>
                  <a:srgbClr val="EC0016"/>
                </a:solidFill>
                <a:latin typeface="Arial"/>
              </a:rPr>
              <a:t>— </a:t>
            </a:r>
            <a:r>
              <a:rPr sz="1100" b="1" i="0">
                <a:solidFill>
                  <a:srgbClr val="171717"/>
                </a:solidFill>
                <a:latin typeface="Arial"/>
              </a:rPr>
              <a:t>APM (Dynatrace). </a:t>
            </a:r>
            <a:r>
              <a:rPr sz="1100" b="0" i="0">
                <a:solidFill>
                  <a:srgbClr val="333333"/>
                </a:solidFill>
                <a:latin typeface="Arial"/>
              </a:rPr>
              <a:t>  Cross-validate runtime traces against static edges. Flag unused edges (static-only) and surprise edges (runtime-only) — both are signals.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100" b="1" i="0">
                <a:solidFill>
                  <a:srgbClr val="EC0016"/>
                </a:solidFill>
                <a:latin typeface="Arial"/>
              </a:rPr>
              <a:t>— </a:t>
            </a:r>
            <a:r>
              <a:rPr sz="1100" b="1" i="0">
                <a:solidFill>
                  <a:srgbClr val="171717"/>
                </a:solidFill>
                <a:latin typeface="Arial"/>
              </a:rPr>
              <a:t>API / AI gateway adapter. </a:t>
            </a:r>
            <a:r>
              <a:rPr sz="1100" b="0" i="0">
                <a:solidFill>
                  <a:srgbClr val="333333"/>
                </a:solidFill>
                <a:latin typeface="Arial"/>
              </a:rPr>
              <a:t>  Read gateway routing tables to unravel calls that look generic at the source ('GET /v1/...') but fan out to many backend services.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100" b="1" i="0">
                <a:solidFill>
                  <a:srgbClr val="EC0016"/>
                </a:solidFill>
                <a:latin typeface="Arial"/>
              </a:rPr>
              <a:t>— </a:t>
            </a:r>
            <a:r>
              <a:rPr sz="1100" b="1" i="0">
                <a:solidFill>
                  <a:srgbClr val="171717"/>
                </a:solidFill>
                <a:latin typeface="Arial"/>
              </a:rPr>
              <a:t>Slack / Teams. </a:t>
            </a:r>
            <a:r>
              <a:rPr sz="1100" b="0" i="0">
                <a:solidFill>
                  <a:srgbClr val="333333"/>
                </a:solidFill>
                <a:latin typeface="Arial"/>
              </a:rPr>
              <a:t>  Route impact notifications to on-call channels named in CMDB.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100" b="1" i="0">
                <a:solidFill>
                  <a:srgbClr val="EC0016"/>
                </a:solidFill>
                <a:latin typeface="Arial"/>
              </a:rPr>
              <a:t>— </a:t>
            </a:r>
            <a:r>
              <a:rPr sz="1100" b="1" i="0">
                <a:solidFill>
                  <a:srgbClr val="171717"/>
                </a:solidFill>
                <a:latin typeface="Arial"/>
              </a:rPr>
              <a:t>GitLab app / bot. </a:t>
            </a:r>
            <a:r>
              <a:rPr sz="1100" b="0" i="0">
                <a:solidFill>
                  <a:srgbClr val="333333"/>
                </a:solidFill>
                <a:latin typeface="Arial"/>
              </a:rPr>
              <a:t>  Graduate from PAT to a proper GitLab app; per-group bot account; fine-grained scopes.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100" b="1" i="0">
                <a:solidFill>
                  <a:srgbClr val="EC0016"/>
                </a:solidFill>
                <a:latin typeface="Arial"/>
              </a:rPr>
              <a:t>— </a:t>
            </a:r>
            <a:r>
              <a:rPr sz="1100" b="1" i="0">
                <a:solidFill>
                  <a:srgbClr val="171717"/>
                </a:solidFill>
                <a:latin typeface="Arial"/>
              </a:rPr>
              <a:t>Control-M / schedulers. </a:t>
            </a:r>
            <a:r>
              <a:rPr sz="1100" b="0" i="0">
                <a:solidFill>
                  <a:srgbClr val="333333"/>
                </a:solidFill>
                <a:latin typeface="Arial"/>
              </a:rPr>
              <a:t>  Detect scheduled-job triggers that cross boundaries (read from shared fileserver, etc.).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2608" y="201168"/>
            <a:ext cx="201168" cy="36576"/>
          </a:xfrm>
          <a:prstGeom prst="rect">
            <a:avLst/>
          </a:prstGeom>
          <a:solidFill>
            <a:srgbClr val="EC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2608" y="301752"/>
            <a:ext cx="201168" cy="36576"/>
          </a:xfrm>
          <a:prstGeom prst="rect">
            <a:avLst/>
          </a:prstGeom>
          <a:solidFill>
            <a:srgbClr val="EC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2608" y="402336"/>
            <a:ext cx="201168" cy="36576"/>
          </a:xfrm>
          <a:prstGeom prst="rect">
            <a:avLst/>
          </a:prstGeom>
          <a:solidFill>
            <a:srgbClr val="EC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97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00000"/>
                </a:solidFill>
                <a:latin typeface="Arial"/>
              </a:rPr>
              <a:t>UBS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0" y="22860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Arial"/>
              </a:rPr>
              <a:t>APPENDIX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18288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629400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Arial"/>
              </a:rPr>
              <a:t>Sherlock · Dependency Intelligence Platform · Internal · Draft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629400"/>
            <a:ext cx="2286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Arial"/>
              </a:rPr>
              <a:t>APPENDIX · 26 / 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86868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EC0016"/>
                </a:solidFill>
                <a:latin typeface="Arial"/>
              </a:rPr>
              <a:t>APPENDIX · A7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09728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71717"/>
                </a:solidFill>
                <a:latin typeface="Arial"/>
              </a:rPr>
              <a:t>Positioning vs. adjacent tools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874519"/>
            <a:ext cx="822960" cy="54864"/>
          </a:xfrm>
          <a:prstGeom prst="rect">
            <a:avLst/>
          </a:prstGeom>
          <a:solidFill>
            <a:srgbClr val="EC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651760"/>
            <a:ext cx="11064240" cy="41148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74320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TOOL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274320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WHAT IT DOES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274320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WHERE SHERLOCK IS DIFFERENT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108960"/>
            <a:ext cx="11064240" cy="457200"/>
          </a:xfrm>
          <a:prstGeom prst="rect">
            <a:avLst/>
          </a:prstGeom>
          <a:solidFill>
            <a:srgbClr val="F5F5F5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20040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71717"/>
                </a:solidFill>
                <a:latin typeface="Arial"/>
              </a:rPr>
              <a:t>Backstage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320040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Arial"/>
              </a:rPr>
              <a:t>Ownership + docs portal.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320040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Arial"/>
              </a:rPr>
              <a:t>Sherlock supplies the dependency graph Backstage lacks.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611880"/>
            <a:ext cx="110642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70332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71717"/>
                </a:solidFill>
                <a:latin typeface="Arial"/>
              </a:rPr>
              <a:t>Dependabot / Renovate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23360" y="370332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Arial"/>
              </a:rPr>
              <a:t>Third-party library dep updates.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370332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Arial"/>
              </a:rPr>
              <a:t>Different scope — they do CVEs/versions, Sherlock does cross-app contract impact.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114800"/>
            <a:ext cx="11064240" cy="457200"/>
          </a:xfrm>
          <a:prstGeom prst="rect">
            <a:avLst/>
          </a:prstGeom>
          <a:solidFill>
            <a:srgbClr val="F5F5F5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20624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71717"/>
                </a:solidFill>
                <a:latin typeface="Arial"/>
              </a:rPr>
              <a:t>GitLab Dependency Scanning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23360" y="420624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Arial"/>
              </a:rPr>
              <a:t>Security-focused.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420624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Arial"/>
              </a:rPr>
              <a:t>Security CVE signals ≠ cross-app behavioural impact.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617720"/>
            <a:ext cx="110642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470916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71717"/>
                </a:solidFill>
                <a:latin typeface="Arial"/>
              </a:rPr>
              <a:t>APM (Dynatrace / AppDynamics)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23360" y="470916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Arial"/>
              </a:rPr>
              <a:t>Runtime calls.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0" y="470916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Arial"/>
              </a:rPr>
              <a:t>Post-hoc, incomplete for batch/files; Sherlock is pre-merge, contract-based.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5120640"/>
            <a:ext cx="11064240" cy="457200"/>
          </a:xfrm>
          <a:prstGeom prst="rect">
            <a:avLst/>
          </a:prstGeom>
          <a:solidFill>
            <a:srgbClr val="F5F5F5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521208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71717"/>
                </a:solidFill>
                <a:latin typeface="Arial"/>
              </a:rPr>
              <a:t>Code search (Sourcegraph)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23360" y="521208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Arial"/>
              </a:rPr>
              <a:t>Reference finder.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0" y="521208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Arial"/>
              </a:rPr>
              <a:t>Sourcegraph tells you where a symbol appears; Sherlock tells you what breaks when it changes.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571500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71717"/>
                </a:solidFill>
                <a:latin typeface="Arial"/>
              </a:rPr>
              <a:t>Sonar / Checkmarx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023360" y="571500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Arial"/>
              </a:rPr>
              <a:t>Code quality + security.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32320" y="571500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Arial"/>
              </a:rPr>
              <a:t>Intra-app signals; silent on inter-app surfaces.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2608" y="201168"/>
            <a:ext cx="201168" cy="36576"/>
          </a:xfrm>
          <a:prstGeom prst="rect">
            <a:avLst/>
          </a:prstGeom>
          <a:solidFill>
            <a:srgbClr val="EC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2608" y="301752"/>
            <a:ext cx="201168" cy="36576"/>
          </a:xfrm>
          <a:prstGeom prst="rect">
            <a:avLst/>
          </a:prstGeom>
          <a:solidFill>
            <a:srgbClr val="EC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2608" y="402336"/>
            <a:ext cx="201168" cy="36576"/>
          </a:xfrm>
          <a:prstGeom prst="rect">
            <a:avLst/>
          </a:prstGeom>
          <a:solidFill>
            <a:srgbClr val="EC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97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00000"/>
                </a:solidFill>
                <a:latin typeface="Arial"/>
              </a:rPr>
              <a:t>UBS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0" y="22860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Arial"/>
              </a:rPr>
              <a:t>APPENDIX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18288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629400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Arial"/>
              </a:rPr>
              <a:t>Sherlock · Dependency Intelligence Platform · Internal · Draft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629400"/>
            <a:ext cx="2286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Arial"/>
              </a:rPr>
              <a:t>APPENDIX · 27 / 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86868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EC0016"/>
                </a:solidFill>
                <a:latin typeface="Arial"/>
              </a:rPr>
              <a:t>APPENDIX · A8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09728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71717"/>
                </a:solidFill>
                <a:latin typeface="Arial"/>
              </a:rPr>
              <a:t>Operator features — auto-discovery, archival, rename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874519"/>
            <a:ext cx="822960" cy="54864"/>
          </a:xfrm>
          <a:prstGeom prst="rect">
            <a:avLst/>
          </a:prstGeom>
          <a:solidFill>
            <a:srgbClr val="EC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0116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Arial"/>
              </a:rPr>
              <a:t>Platform-team capabilities that make Sherlock self-maintaining at thousands-of-repos scale. All built in the POC.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834640"/>
            <a:ext cx="1106424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100" b="1" i="0">
                <a:solidFill>
                  <a:srgbClr val="EC0016"/>
                </a:solidFill>
                <a:latin typeface="Arial"/>
              </a:rPr>
              <a:t>— </a:t>
            </a:r>
            <a:r>
              <a:rPr sz="1100" b="1" i="0">
                <a:solidFill>
                  <a:srgbClr val="171717"/>
                </a:solidFill>
                <a:latin typeface="Arial"/>
              </a:rPr>
              <a:t>Auto-discovery (60s reconciler). </a:t>
            </a:r>
            <a:r>
              <a:rPr sz="1100" b="0" i="0">
                <a:solidFill>
                  <a:srgbClr val="333333"/>
                </a:solidFill>
                <a:latin typeface="Arial"/>
              </a:rPr>
              <a:t>  Background task lists every project in every configured group. New projects → webhook auto-installed + initial scan. Webhook deleted by a team? Reinstalled on the next tick. Metadata refresh even when code hasn't changed.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100" b="1" i="0">
                <a:solidFill>
                  <a:srgbClr val="EC0016"/>
                </a:solidFill>
                <a:latin typeface="Arial"/>
              </a:rPr>
              <a:t>— </a:t>
            </a:r>
            <a:r>
              <a:rPr sz="1100" b="1" i="0">
                <a:solidFill>
                  <a:srgbClr val="171717"/>
                </a:solidFill>
                <a:latin typeface="Arial"/>
              </a:rPr>
              <a:t>Multi-group support. </a:t>
            </a:r>
            <a:r>
              <a:rPr sz="1100" b="0" i="0">
                <a:solidFill>
                  <a:srgbClr val="333333"/>
                </a:solidFill>
                <a:latin typeface="Arial"/>
              </a:rPr>
              <a:t>  GITLAB_GROUPS env var accepts a comma-separated list (payments, wealth, core-banking, …). Reconciler iterates each; one Sherlock covers the whole estate.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100" b="1" i="0">
                <a:solidFill>
                  <a:srgbClr val="EC0016"/>
                </a:solidFill>
                <a:latin typeface="Arial"/>
              </a:rPr>
              <a:t>— </a:t>
            </a:r>
            <a:r>
              <a:rPr sz="1100" b="1" i="0">
                <a:solidFill>
                  <a:srgbClr val="171717"/>
                </a:solidFill>
                <a:latin typeface="Arial"/>
              </a:rPr>
              <a:t>Parallel scan. </a:t>
            </a:r>
            <a:r>
              <a:rPr sz="1100" b="0" i="0">
                <a:solidFill>
                  <a:srgbClr val="333333"/>
                </a:solidFill>
                <a:latin typeface="Arial"/>
              </a:rPr>
              <a:t>  Bounded ThreadPoolExecutor (default 4 workers) scans newly-discovered repos concurrently. Scales with CPU, not with group size.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100" b="1" i="0">
                <a:solidFill>
                  <a:srgbClr val="EC0016"/>
                </a:solidFill>
                <a:latin typeface="Arial"/>
              </a:rPr>
              <a:t>— </a:t>
            </a:r>
            <a:r>
              <a:rPr sz="1100" b="1" i="0">
                <a:solidFill>
                  <a:srgbClr val="171717"/>
                </a:solidFill>
                <a:latin typeface="Arial"/>
              </a:rPr>
              <a:t>Archival. </a:t>
            </a:r>
            <a:r>
              <a:rPr sz="1100" b="0" i="0">
                <a:solidFill>
                  <a:srgbClr val="333333"/>
                </a:solidFill>
                <a:latin typeface="Arial"/>
              </a:rPr>
              <a:t>  Projects removed from every configured group are marked archived in the graph — Application node + edges preserved for audit. `impact::pending` issues still close normally.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100" b="1" i="0">
                <a:solidFill>
                  <a:srgbClr val="EC0016"/>
                </a:solidFill>
                <a:latin typeface="Arial"/>
              </a:rPr>
              <a:t>— </a:t>
            </a:r>
            <a:r>
              <a:rPr sz="1100" b="1" i="0">
                <a:solidFill>
                  <a:srgbClr val="171717"/>
                </a:solidFill>
                <a:latin typeface="Arial"/>
              </a:rPr>
              <a:t>Rename detection. </a:t>
            </a:r>
            <a:r>
              <a:rPr sz="1100" b="0" i="0">
                <a:solidFill>
                  <a:srgbClr val="333333"/>
                </a:solidFill>
                <a:latin typeface="Arial"/>
              </a:rPr>
              <a:t>  Stable project-ID tracking. A path rename in GitLab is detected as a rename (not a delete + new), old node archived with renamed_to pointing at the new one.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100" b="1" i="0">
                <a:solidFill>
                  <a:srgbClr val="EC0016"/>
                </a:solidFill>
                <a:latin typeface="Arial"/>
              </a:rPr>
              <a:t>— </a:t>
            </a:r>
            <a:r>
              <a:rPr sz="1100" b="1" i="0">
                <a:solidFill>
                  <a:srgbClr val="171717"/>
                </a:solidFill>
                <a:latin typeface="Arial"/>
              </a:rPr>
              <a:t>Observability. </a:t>
            </a:r>
            <a:r>
              <a:rPr sz="1100" b="0" i="0">
                <a:solidFill>
                  <a:srgbClr val="333333"/>
                </a:solidFill>
                <a:latin typeface="Arial"/>
              </a:rPr>
              <a:t>  /api/reconciler/status exposes last run, last N runs, running state. Every run emits a structured log line for the platform team's dashboard.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2608" y="201168"/>
            <a:ext cx="201168" cy="36576"/>
          </a:xfrm>
          <a:prstGeom prst="rect">
            <a:avLst/>
          </a:prstGeom>
          <a:solidFill>
            <a:srgbClr val="EC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2608" y="301752"/>
            <a:ext cx="201168" cy="36576"/>
          </a:xfrm>
          <a:prstGeom prst="rect">
            <a:avLst/>
          </a:prstGeom>
          <a:solidFill>
            <a:srgbClr val="EC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2608" y="402336"/>
            <a:ext cx="201168" cy="36576"/>
          </a:xfrm>
          <a:prstGeom prst="rect">
            <a:avLst/>
          </a:prstGeom>
          <a:solidFill>
            <a:srgbClr val="EC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97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00000"/>
                </a:solidFill>
                <a:latin typeface="Arial"/>
              </a:rPr>
              <a:t>UBS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0" y="22860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Arial"/>
              </a:rPr>
              <a:t>APPENDIX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18288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629400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Arial"/>
              </a:rPr>
              <a:t>Sherlock · Dependency Intelligence Platform · Internal · Draft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629400"/>
            <a:ext cx="2286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Arial"/>
              </a:rPr>
              <a:t>APPENDIX · 28 / 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86868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EC0016"/>
                </a:solidFill>
                <a:latin typeface="Arial"/>
              </a:rPr>
              <a:t>APPENDIX · A8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09728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71717"/>
                </a:solidFill>
                <a:latin typeface="Arial"/>
              </a:rPr>
              <a:t>Why now. Why UBS. Why us.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874519"/>
            <a:ext cx="822960" cy="54864"/>
          </a:xfrm>
          <a:prstGeom prst="rect">
            <a:avLst/>
          </a:prstGeom>
          <a:solidFill>
            <a:srgbClr val="EC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743200"/>
            <a:ext cx="1106424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200" b="1" i="0">
                <a:solidFill>
                  <a:srgbClr val="EC0016"/>
                </a:solidFill>
                <a:latin typeface="Arial"/>
              </a:rPr>
              <a:t>— </a:t>
            </a:r>
            <a:r>
              <a:rPr sz="1200" b="1" i="0">
                <a:solidFill>
                  <a:srgbClr val="171717"/>
                </a:solidFill>
                <a:latin typeface="Arial"/>
              </a:rPr>
              <a:t>GitLab is where MRs happen. </a:t>
            </a:r>
            <a:r>
              <a:rPr sz="1200" b="0" i="0">
                <a:solidFill>
                  <a:srgbClr val="333333"/>
                </a:solidFill>
                <a:latin typeface="Arial"/>
              </a:rPr>
              <a:t>  Impact belongs on the MR — not in a portal nobody opens. Sherlock lives where developers already work.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200" b="1" i="0">
                <a:solidFill>
                  <a:srgbClr val="EC0016"/>
                </a:solidFill>
                <a:latin typeface="Arial"/>
              </a:rPr>
              <a:t>— </a:t>
            </a:r>
            <a:r>
              <a:rPr sz="1200" b="1" i="0">
                <a:solidFill>
                  <a:srgbClr val="171717"/>
                </a:solidFill>
                <a:latin typeface="Arial"/>
              </a:rPr>
              <a:t>17 domains = invisible cross-boundary coupling. </a:t>
            </a:r>
            <a:r>
              <a:rPr sz="1200" b="0" i="0">
                <a:solidFill>
                  <a:srgbClr val="333333"/>
                </a:solidFill>
                <a:latin typeface="Arial"/>
              </a:rPr>
              <a:t>  Every large bank has this; our scale makes it expensive. The cost of not knowing who depends on you grows exponentially with teams.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200" b="1" i="0">
                <a:solidFill>
                  <a:srgbClr val="EC0016"/>
                </a:solidFill>
                <a:latin typeface="Arial"/>
              </a:rPr>
              <a:t>— </a:t>
            </a:r>
            <a:r>
              <a:rPr sz="1200" b="1" i="0">
                <a:solidFill>
                  <a:srgbClr val="171717"/>
                </a:solidFill>
                <a:latin typeface="Arial"/>
              </a:rPr>
              <a:t>COBOL coverage is ready. </a:t>
            </a:r>
            <a:r>
              <a:rPr sz="1200" b="0" i="0">
                <a:solidFill>
                  <a:srgbClr val="333333"/>
                </a:solidFill>
                <a:latin typeface="Arial"/>
              </a:rPr>
              <a:t>  Few tools in this space speak COBOL. Our core-banking estate deserves to be in the graph, not a footnote.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200" b="1" i="0">
                <a:solidFill>
                  <a:srgbClr val="EC0016"/>
                </a:solidFill>
                <a:latin typeface="Arial"/>
              </a:rPr>
              <a:t>— </a:t>
            </a:r>
            <a:r>
              <a:rPr sz="1200" b="1" i="0">
                <a:solidFill>
                  <a:srgbClr val="171717"/>
                </a:solidFill>
                <a:latin typeface="Arial"/>
              </a:rPr>
              <a:t>LLM tooling has matured. </a:t>
            </a:r>
            <a:r>
              <a:rPr sz="1200" b="0" i="0">
                <a:solidFill>
                  <a:srgbClr val="333333"/>
                </a:solidFill>
                <a:latin typeface="Arial"/>
              </a:rPr>
              <a:t>  Doc generation at scale is finally feasible with prompt caching + hierarchical summarization.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200" b="1" i="0">
                <a:solidFill>
                  <a:srgbClr val="EC0016"/>
                </a:solidFill>
                <a:latin typeface="Arial"/>
              </a:rPr>
              <a:t>— </a:t>
            </a:r>
            <a:r>
              <a:rPr sz="1200" b="1" i="0">
                <a:solidFill>
                  <a:srgbClr val="171717"/>
                </a:solidFill>
                <a:latin typeface="Arial"/>
              </a:rPr>
              <a:t>Proof already done. </a:t>
            </a:r>
            <a:r>
              <a:rPr sz="1200" b="0" i="0">
                <a:solidFill>
                  <a:srgbClr val="333333"/>
                </a:solidFill>
                <a:latin typeface="Arial"/>
              </a:rPr>
              <a:t>  POC runs on a laptop, exercises every language we care about, demonstrates the MR bot end-to-end. Pilot money goes to scaling safely, not to proving the idea.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